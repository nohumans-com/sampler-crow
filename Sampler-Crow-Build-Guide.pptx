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dp/B08CTM3279" TargetMode="External"/><Relationship Id="rId5" Type="http://schemas.openxmlformats.org/officeDocument/2006/relationships/hyperlink" Target="https://www.amazon.com/dp/B07Z6NW913" TargetMode="External"/><Relationship Id="rId7" Type="http://schemas.openxmlformats.org/officeDocument/2006/relationships/hyperlink" Target="https://www.amazon.com/dp/B0FXLB5CFL" TargetMode="External"/><Relationship Id="rId9" Type="http://schemas.openxmlformats.org/officeDocument/2006/relationships/hyperlink" Target="https://www.amazon.com/dp/B0CDWXWXCG" TargetMode="External"/><Relationship Id="rId11" Type="http://schemas.openxmlformats.org/officeDocument/2006/relationships/hyperlink" Target="https://www.amazon.com/dp/B092HWW4RS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image" Target="../media/image-5-4.png"/><Relationship Id="rId8" Type="http://schemas.openxmlformats.org/officeDocument/2006/relationships/image" Target="../media/image-5-5.png"/><Relationship Id="rId10" Type="http://schemas.openxmlformats.org/officeDocument/2006/relationships/image" Target="../media/image-5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dp/B0BYMC926Z" TargetMode="External"/><Relationship Id="rId5" Type="http://schemas.openxmlformats.org/officeDocument/2006/relationships/hyperlink" Target="https://www.sparkfun.com/products/21247" TargetMode="External"/><Relationship Id="rId7" Type="http://schemas.openxmlformats.org/officeDocument/2006/relationships/hyperlink" Target="https://www.amazon.com/dp/B00XNX0FL0" TargetMode="External"/><Relationship Id="rId9" Type="http://schemas.openxmlformats.org/officeDocument/2006/relationships/hyperlink" Target="https://www.amazon.com/dp/B08HS6X44P" TargetMode="External"/><Relationship Id="rId11" Type="http://schemas.openxmlformats.org/officeDocument/2006/relationships/hyperlink" Target="https://www.amazon.com/dp/B07JNC4P7Y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image" Target="../media/image-6-5.png"/><Relationship Id="rId10" Type="http://schemas.openxmlformats.org/officeDocument/2006/relationships/image" Target="../media/image-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mazon.com/dp/B06WWQP12J" TargetMode="External"/><Relationship Id="rId5" Type="http://schemas.openxmlformats.org/officeDocument/2006/relationships/hyperlink" Target="https://www.amazon.com/dp/B0798HZ8WB" TargetMode="External"/><Relationship Id="rId7" Type="http://schemas.openxmlformats.org/officeDocument/2006/relationships/hyperlink" Target="https://www.amazon.com/dp/B07TX6BX47" TargetMode="External"/><Relationship Id="rId9" Type="http://schemas.openxmlformats.org/officeDocument/2006/relationships/hyperlink" Target="https://www.amazon.com/dp/B01EV70C78" TargetMode="External"/><Relationship Id="rId11" Type="http://schemas.openxmlformats.org/officeDocument/2006/relationships/hyperlink" Target="https://www.amazon.com/dp/B07W83VJGV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image" Target="../media/image-7-5.png"/><Relationship Id="rId10" Type="http://schemas.openxmlformats.org/officeDocument/2006/relationships/image" Target="../media/image-7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640080" cy="6400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005840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" y="16459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SAMPLER-CROW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73152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Software Build Guide  v2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Sampler / Synthesizer / MIDI / USB Audio  —  ESP32 + Teensy 4.1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31520" y="3566160"/>
            <a:ext cx="22860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Triple-processor architecture  •  3 USB-C ports  •  MIDI I/O  •  Vibe-coded with Claude Code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691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lev@uaudio.com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TRIPLE-PROCESSOR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brains: UI + Audio DSP + USB Audio Bridge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651760" cy="2926080"/>
          </a:xfrm>
          <a:prstGeom prst="rect">
            <a:avLst/>
          </a:prstGeom>
          <a:solidFill>
            <a:srgbClr val="1A2332"/>
          </a:solidFill>
          <a:ln w="19050">
            <a:solidFill>
              <a:srgbClr val="00D4A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234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CrowPanel ESP32-S3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E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BRAIN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87452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3.5" Touch Display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Piano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 Monitor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 Meters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286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880360" y="2560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246120" y="1097280"/>
            <a:ext cx="2926080" cy="2926080"/>
          </a:xfrm>
          <a:prstGeom prst="rect">
            <a:avLst/>
          </a:prstGeom>
          <a:solidFill>
            <a:srgbClr val="1A2332"/>
          </a:solidFill>
          <a:ln w="19050">
            <a:solidFill>
              <a:srgbClr val="FF6B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2344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94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4.1 + Audio Shield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429000" y="16002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E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BRAIN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3429000" y="1874520"/>
            <a:ext cx="2560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600MHz ARM M7 DSP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4-voice Synth Engine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Record/Play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(Reverb/Delay)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MIDI Host (Launchpad)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MIDI I/O (TRS)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Pots + Buttons</a:t>
            </a:r>
            <a:endParaRPr lang="en-US" sz="11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28600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6480" y="2560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I2S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6492240" y="1097280"/>
            <a:ext cx="2377440" cy="2926080"/>
          </a:xfrm>
          <a:prstGeom prst="rect">
            <a:avLst/>
          </a:prstGeom>
          <a:solidFill>
            <a:srgbClr val="1A2332"/>
          </a:solidFill>
          <a:ln w="19050">
            <a:solidFill>
              <a:srgbClr val="B388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23444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40880" y="1234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ESP32-S3 Dev Board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6675120" y="16002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E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AUDIO BRIDGE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6675120" y="187452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OTG Host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Class-compliant audio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I2S output to Teensy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(experimental)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Text 18"/>
          <p:cNvSpPr/>
          <p:nvPr/>
        </p:nvSpPr>
        <p:spPr>
          <a:xfrm>
            <a:off x="457200" y="4686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CrowPanel (UI) → UART → Teensy (Audio/MIDI) ← I2S ← ESP32-S3 (USB Audio)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EXTERNAL PORTS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USB-C  •  3 Audio TRS  •  2 MIDI TRS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solidFill>
            <a:srgbClr val="1E2D3D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REAR PANEL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68680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85800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(PC)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1856232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73352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673352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(Launchpad)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2843784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B388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60904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60904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(Interface)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3831336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4845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648456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818888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36008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63600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5806440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23560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PHONE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623560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6793992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FFE66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11112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611112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781544" y="1417320"/>
            <a:ext cx="548640" cy="548640"/>
          </a:xfrm>
          <a:prstGeom prst="ellipse">
            <a:avLst/>
          </a:prstGeom>
          <a:solidFill>
            <a:srgbClr val="0F1419"/>
          </a:solidFill>
          <a:ln w="25400">
            <a:solidFill>
              <a:srgbClr val="FFE66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98664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598664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</a:t>
            </a:r>
            <a:endParaRPr lang="en-US" sz="70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88336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960120" y="265176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 HOST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2834640" y="265176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 device port → computer (programming + USB MIDI device)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63824"/>
            <a:ext cx="274320" cy="27432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960120" y="31272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 MIDI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2834640" y="312724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 USB Host → USB hub → Launchpad or MIDI controllers</a:t>
            </a:r>
            <a:endParaRPr lang="en-US" sz="11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39312"/>
            <a:ext cx="274320" cy="27432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60120" y="360273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 AUDIO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2834640" y="360273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Audio Bridge → class-compliant USB audio interface (experimental)</a:t>
            </a:r>
            <a:endParaRPr lang="en-US" sz="1100" dirty="0"/>
          </a:p>
        </p:txBody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114800"/>
            <a:ext cx="274320" cy="2743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960120" y="4078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 IN/OUT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2834640" y="407822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MIDI via ubld.it breakout • Type A TRS standard • Optically isolated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SHOPPING LIST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on Amazon + SparkFun  |  Est. Total: ~$214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1005840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1005840"/>
            <a:ext cx="54864" cy="59436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115568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4.1 (w/ Pins)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291840" y="10515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~$49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26280" y="1005840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100584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15568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 Shield Rev D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7452360" y="10515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~$14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365760" y="1673352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65760" y="1673352"/>
            <a:ext cx="54864" cy="59436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78308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60120" y="1719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CrowPanel 3.5" ESP32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3291840" y="1719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526280" y="1673352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526280" y="1673352"/>
            <a:ext cx="54864" cy="594360"/>
          </a:xfrm>
          <a:prstGeom prst="rect">
            <a:avLst/>
          </a:prstGeom>
          <a:solidFill>
            <a:srgbClr val="B388FF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872" y="1783080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120640" y="1719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ESP32-S3 Dev Board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7452360" y="1719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~$10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365760" y="2340864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365760" y="2340864"/>
            <a:ext cx="54864" cy="594360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450592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60120" y="2386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INMP441 MEMS Mic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3291840" y="23865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~$12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4526280" y="2340864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4526280" y="2340864"/>
            <a:ext cx="54864" cy="594360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0872" y="2450592"/>
            <a:ext cx="320040" cy="32004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120640" y="2386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ubld.it MIDI Breakout</a:t>
            </a:r>
            <a:endParaRPr lang="en-US" sz="1200" dirty="0"/>
          </a:p>
        </p:txBody>
      </p:sp>
      <p:sp>
        <p:nvSpPr>
          <p:cNvPr id="35" name="Text 26"/>
          <p:cNvSpPr/>
          <p:nvPr/>
        </p:nvSpPr>
        <p:spPr>
          <a:xfrm>
            <a:off x="7452360" y="23865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~$25</a:t>
            </a:r>
            <a:endParaRPr lang="en-US" sz="1400" dirty="0"/>
          </a:p>
        </p:txBody>
      </p:sp>
      <p:sp>
        <p:nvSpPr>
          <p:cNvPr id="36" name="Shape 27"/>
          <p:cNvSpPr/>
          <p:nvPr/>
        </p:nvSpPr>
        <p:spPr>
          <a:xfrm>
            <a:off x="365760" y="3008376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28"/>
          <p:cNvSpPr/>
          <p:nvPr/>
        </p:nvSpPr>
        <p:spPr>
          <a:xfrm>
            <a:off x="365760" y="3008376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" y="3118104"/>
            <a:ext cx="320040" cy="32004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960120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Hub + Host Cable</a:t>
            </a:r>
            <a:endParaRPr lang="en-US" sz="1200" dirty="0"/>
          </a:p>
        </p:txBody>
      </p:sp>
      <p:sp>
        <p:nvSpPr>
          <p:cNvPr id="40" name="Text 30"/>
          <p:cNvSpPr/>
          <p:nvPr/>
        </p:nvSpPr>
        <p:spPr>
          <a:xfrm>
            <a:off x="3291840" y="30540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~$12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4526280" y="3008376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2" name="Shape 32"/>
          <p:cNvSpPr/>
          <p:nvPr/>
        </p:nvSpPr>
        <p:spPr>
          <a:xfrm>
            <a:off x="4526280" y="3008376"/>
            <a:ext cx="54864" cy="59436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0872" y="3118104"/>
            <a:ext cx="320040" cy="320040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5120640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 Panel Mount (3)</a:t>
            </a:r>
            <a:endParaRPr lang="en-US" sz="1200" dirty="0"/>
          </a:p>
        </p:txBody>
      </p:sp>
      <p:sp>
        <p:nvSpPr>
          <p:cNvPr id="45" name="Text 34"/>
          <p:cNvSpPr/>
          <p:nvPr/>
        </p:nvSpPr>
        <p:spPr>
          <a:xfrm>
            <a:off x="7452360" y="30540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~$10</a:t>
            </a:r>
            <a:endParaRPr lang="en-US" sz="1400" dirty="0"/>
          </a:p>
        </p:txBody>
      </p:sp>
      <p:sp>
        <p:nvSpPr>
          <p:cNvPr id="46" name="Shape 35"/>
          <p:cNvSpPr/>
          <p:nvPr/>
        </p:nvSpPr>
        <p:spPr>
          <a:xfrm>
            <a:off x="365760" y="3675888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7" name="Shape 36"/>
          <p:cNvSpPr/>
          <p:nvPr/>
        </p:nvSpPr>
        <p:spPr>
          <a:xfrm>
            <a:off x="365760" y="3675888"/>
            <a:ext cx="54864" cy="594360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0352" y="3785616"/>
            <a:ext cx="320040" cy="320040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960120" y="3721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3.5mm TRS Jacks (5)</a:t>
            </a:r>
            <a:endParaRPr lang="en-US" sz="1200" dirty="0"/>
          </a:p>
        </p:txBody>
      </p:sp>
      <p:sp>
        <p:nvSpPr>
          <p:cNvPr id="50" name="Text 38"/>
          <p:cNvSpPr/>
          <p:nvPr/>
        </p:nvSpPr>
        <p:spPr>
          <a:xfrm>
            <a:off x="3291840" y="3721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~$7</a:t>
            </a:r>
            <a:endParaRPr lang="en-US" sz="1400" dirty="0"/>
          </a:p>
        </p:txBody>
      </p:sp>
      <p:sp>
        <p:nvSpPr>
          <p:cNvPr id="51" name="Shape 39"/>
          <p:cNvSpPr/>
          <p:nvPr/>
        </p:nvSpPr>
        <p:spPr>
          <a:xfrm>
            <a:off x="4526280" y="3675888"/>
            <a:ext cx="3977640" cy="594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2" name="Shape 40"/>
          <p:cNvSpPr/>
          <p:nvPr/>
        </p:nvSpPr>
        <p:spPr>
          <a:xfrm>
            <a:off x="4526280" y="3675888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0872" y="3785616"/>
            <a:ext cx="320040" cy="320040"/>
          </a:xfrm>
          <a:prstGeom prst="rect">
            <a:avLst/>
          </a:prstGeom>
        </p:spPr>
      </p:pic>
      <p:sp>
        <p:nvSpPr>
          <p:cNvPr id="54" name="Text 41"/>
          <p:cNvSpPr/>
          <p:nvPr/>
        </p:nvSpPr>
        <p:spPr>
          <a:xfrm>
            <a:off x="5120640" y="3721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Pots + Buttons + Wire</a:t>
            </a:r>
            <a:endParaRPr lang="en-US" sz="1200" dirty="0"/>
          </a:p>
        </p:txBody>
      </p:sp>
      <p:sp>
        <p:nvSpPr>
          <p:cNvPr id="55" name="Text 42"/>
          <p:cNvSpPr/>
          <p:nvPr/>
        </p:nvSpPr>
        <p:spPr>
          <a:xfrm>
            <a:off x="7452360" y="3721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~$39</a:t>
            </a:r>
            <a:endParaRPr lang="en-US" sz="1400" dirty="0"/>
          </a:p>
        </p:txBody>
      </p:sp>
      <p:sp>
        <p:nvSpPr>
          <p:cNvPr id="56" name="Shape 43"/>
          <p:cNvSpPr/>
          <p:nvPr/>
        </p:nvSpPr>
        <p:spPr>
          <a:xfrm>
            <a:off x="365760" y="4434840"/>
            <a:ext cx="8321040" cy="45720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57" name="Text 44"/>
          <p:cNvSpPr/>
          <p:nvPr/>
        </p:nvSpPr>
        <p:spPr>
          <a:xfrm>
            <a:off x="73152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ESTIMATED TOTAL</a:t>
            </a:r>
            <a:endParaRPr lang="en-US" sz="1300" dirty="0"/>
          </a:p>
        </p:txBody>
      </p:sp>
      <p:sp>
        <p:nvSpPr>
          <p:cNvPr id="58" name="Text 45"/>
          <p:cNvSpPr/>
          <p:nvPr/>
        </p:nvSpPr>
        <p:spPr>
          <a:xfrm>
            <a:off x="4572000" y="4434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~$214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AMAZON LINKS: CORE BOARDS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822960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822960"/>
            <a:ext cx="54864" cy="804672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96696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877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4.1 (with Pins)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132320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~$49</a:t>
            </a:r>
            <a:endParaRPr lang="en-US" sz="1700" dirty="0"/>
          </a:p>
        </p:txBody>
      </p:sp>
      <p:sp>
        <p:nvSpPr>
          <p:cNvPr id="10" name="Text 6">
            <a:hlinkClick r:id="rId3" tooltip=""/>
          </p:cNvPr>
          <p:cNvSpPr/>
          <p:nvPr/>
        </p:nvSpPr>
        <p:spPr>
          <a:xfrm>
            <a:off x="1188720" y="11430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amazon.com/dp/B08CTM3279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88720" y="135331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Pre-soldered headers, ARM M7 600MHz, USB Host pads on bottom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65760" y="1673352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5760" y="1673352"/>
            <a:ext cx="54864" cy="804672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47088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 Audio Shield (Rev D)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132320" y="1728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~$14</a:t>
            </a:r>
            <a:endParaRPr lang="en-US" sz="1700" dirty="0"/>
          </a:p>
        </p:txBody>
      </p:sp>
      <p:sp>
        <p:nvSpPr>
          <p:cNvPr id="17" name="Text 12">
            <a:hlinkClick r:id="rId5" tooltip=""/>
          </p:cNvPr>
          <p:cNvSpPr/>
          <p:nvPr/>
        </p:nvSpPr>
        <p:spPr>
          <a:xfrm>
            <a:off x="1188720" y="19933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amazon.com/dp/B07Z6NW913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88720" y="22037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SGTL5000 codec: stereo DAC+ADC, headphone amp, SD slot, line I/O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5760" y="2523744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65760" y="2523744"/>
            <a:ext cx="54864" cy="804672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269748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Elecrow CrowPanel 3.5" ESP32-S3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25786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</a:t>
            </a:r>
            <a:endParaRPr lang="en-US" sz="1700" dirty="0"/>
          </a:p>
        </p:txBody>
      </p:sp>
      <p:sp>
        <p:nvSpPr>
          <p:cNvPr id="24" name="Text 18">
            <a:hlinkClick r:id="rId7" tooltip=""/>
          </p:cNvPr>
          <p:cNvSpPr/>
          <p:nvPr/>
        </p:nvSpPr>
        <p:spPr>
          <a:xfrm>
            <a:off x="1188720" y="28437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amazon.com/dp/B0FXLB5CFL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88720" y="30540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480x320 TFT touch, built-in ESP32-S3, Arduino/LVGL compatible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65760" y="3374136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65760" y="3374136"/>
            <a:ext cx="54864" cy="804672"/>
          </a:xfrm>
          <a:prstGeom prst="rect">
            <a:avLst/>
          </a:prstGeom>
          <a:solidFill>
            <a:srgbClr val="B388FF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547872"/>
            <a:ext cx="384048" cy="3840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88720" y="3429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ESP32-S3 DevKit (USB OTG)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13232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~$10</a:t>
            </a:r>
            <a:endParaRPr lang="en-US" sz="1700" dirty="0"/>
          </a:p>
        </p:txBody>
      </p:sp>
      <p:sp>
        <p:nvSpPr>
          <p:cNvPr id="31" name="Text 24">
            <a:hlinkClick r:id="rId9" tooltip=""/>
          </p:cNvPr>
          <p:cNvSpPr/>
          <p:nvPr/>
        </p:nvSpPr>
        <p:spPr>
          <a:xfrm>
            <a:off x="1188720" y="369417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amazon.com/dp/B0CDWXWXCG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88720" y="390448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HiLetgo N16R8, dual USB-C, USB OTG for audio bridge (experimental)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224528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365760" y="4224528"/>
            <a:ext cx="54864" cy="804672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4398264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188720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INMP441 MEMS Mic (5-pack)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713232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~$12</a:t>
            </a:r>
            <a:endParaRPr lang="en-US" sz="1700" dirty="0"/>
          </a:p>
        </p:txBody>
      </p:sp>
      <p:sp>
        <p:nvSpPr>
          <p:cNvPr id="38" name="Text 30">
            <a:hlinkClick r:id="rId11" tooltip=""/>
          </p:cNvPr>
          <p:cNvSpPr/>
          <p:nvPr/>
        </p:nvSpPr>
        <p:spPr>
          <a:xfrm>
            <a:off x="1188720" y="45445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amazon.com/dp/B092HWW4RS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88720" y="475488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I2S digital output, omnidirectional, ESP32 compatible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AMAZON LINKS: MIDI, USB &amp; AUDIO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822960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822960"/>
            <a:ext cx="54864" cy="804672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96696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877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ubld.it MIDI 2.0 Breakout Board MV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132320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~$25</a:t>
            </a:r>
            <a:endParaRPr lang="en-US" sz="1700" dirty="0"/>
          </a:p>
        </p:txBody>
      </p:sp>
      <p:sp>
        <p:nvSpPr>
          <p:cNvPr id="10" name="Text 6">
            <a:hlinkClick r:id="rId3" tooltip=""/>
          </p:cNvPr>
          <p:cNvSpPr/>
          <p:nvPr/>
        </p:nvSpPr>
        <p:spPr>
          <a:xfrm>
            <a:off x="1188720" y="11430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amazon.com/dp/B0BYMC926Z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88720" y="135331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MIDI IN+OUT, 3.5mm TRS, optically isolated, 3.3V/5V switch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65760" y="1673352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5760" y="1673352"/>
            <a:ext cx="54864" cy="804672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47088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Host Cable (SparkFun/PJRC)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132320" y="1728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1700" dirty="0"/>
          </a:p>
        </p:txBody>
      </p:sp>
      <p:sp>
        <p:nvSpPr>
          <p:cNvPr id="17" name="Text 12">
            <a:hlinkClick r:id="rId5" tooltip=""/>
          </p:cNvPr>
          <p:cNvSpPr/>
          <p:nvPr/>
        </p:nvSpPr>
        <p:spPr>
          <a:xfrm>
            <a:off x="1188720" y="19933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sparkfun.com/products/21247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88720" y="22037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5-pin header to USB-A female, for Teensy 4.1 USB Host pads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5760" y="2523744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65760" y="2523744"/>
            <a:ext cx="54864" cy="804672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269748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Compact 4-Port USB 2.0 Hub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25786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~$8</a:t>
            </a:r>
            <a:endParaRPr lang="en-US" sz="1700" dirty="0"/>
          </a:p>
        </p:txBody>
      </p:sp>
      <p:sp>
        <p:nvSpPr>
          <p:cNvPr id="24" name="Text 18">
            <a:hlinkClick r:id="rId7" tooltip=""/>
          </p:cNvPr>
          <p:cNvSpPr/>
          <p:nvPr/>
        </p:nvSpPr>
        <p:spPr>
          <a:xfrm>
            <a:off x="1188720" y="28437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amazon.com/dp/B00XNX0FL0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88720" y="30540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Launchpad + expansion, connects to Teensy USB Host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65760" y="3374136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65760" y="3374136"/>
            <a:ext cx="54864" cy="804672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547872"/>
            <a:ext cx="384048" cy="3840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88720" y="3429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USB-C Panel Mount Adapter (3x)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13232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~$10</a:t>
            </a:r>
            <a:endParaRPr lang="en-US" sz="1700" dirty="0"/>
          </a:p>
        </p:txBody>
      </p:sp>
      <p:sp>
        <p:nvSpPr>
          <p:cNvPr id="31" name="Text 24">
            <a:hlinkClick r:id="rId9" tooltip=""/>
          </p:cNvPr>
          <p:cNvSpPr/>
          <p:nvPr/>
        </p:nvSpPr>
        <p:spPr>
          <a:xfrm>
            <a:off x="1188720" y="369417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amazon.com/dp/B08HS6X44P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88720" y="390448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Male-to-female panel mount with screw, 10Gbps data + charging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224528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365760" y="4224528"/>
            <a:ext cx="54864" cy="804672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4398264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188720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3.5mm TRS Panel Mount Jacks (5-pk)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713232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~$7</a:t>
            </a:r>
            <a:endParaRPr lang="en-US" sz="1700" dirty="0"/>
          </a:p>
        </p:txBody>
      </p:sp>
      <p:sp>
        <p:nvSpPr>
          <p:cNvPr id="38" name="Text 30">
            <a:hlinkClick r:id="rId11" tooltip=""/>
          </p:cNvPr>
          <p:cNvSpPr/>
          <p:nvPr/>
        </p:nvSpPr>
        <p:spPr>
          <a:xfrm>
            <a:off x="1188720" y="45445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amazon.com/dp/B07JNC4P7Y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88720" y="475488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Ancable stereo panel mount, solder terminals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AMAZON LINKS: CONTROLS &amp; WIRING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822960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822960"/>
            <a:ext cx="54864" cy="804672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96696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8778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B10K Potentiometers + Knobs (20-pk)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132320" y="8778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~$9</a:t>
            </a:r>
            <a:endParaRPr lang="en-US" sz="1700" dirty="0"/>
          </a:p>
        </p:txBody>
      </p:sp>
      <p:sp>
        <p:nvSpPr>
          <p:cNvPr id="10" name="Text 6">
            <a:hlinkClick r:id="rId3" tooltip=""/>
          </p:cNvPr>
          <p:cNvSpPr/>
          <p:nvPr/>
        </p:nvSpPr>
        <p:spPr>
          <a:xfrm>
            <a:off x="1188720" y="11430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amazon.com/dp/B06WWQP12J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88720" y="135331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linear taper, knurled shaft, includes knob caps + nuts + washers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65760" y="1673352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5760" y="1673352"/>
            <a:ext cx="54864" cy="804672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47088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17282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12mm Tactile Buttons + Caps (25-pk)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132320" y="1728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~$7</a:t>
            </a:r>
            <a:endParaRPr lang="en-US" sz="1700" dirty="0"/>
          </a:p>
        </p:txBody>
      </p:sp>
      <p:sp>
        <p:nvSpPr>
          <p:cNvPr id="17" name="Text 12">
            <a:hlinkClick r:id="rId5" tooltip=""/>
          </p:cNvPr>
          <p:cNvSpPr/>
          <p:nvPr/>
        </p:nvSpPr>
        <p:spPr>
          <a:xfrm>
            <a:off x="1188720" y="19933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amazon.com/dp/B0798HZ8WB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88720" y="22037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4-pin DIP through-hole, momentary, includes colored caps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65760" y="2523744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65760" y="2523744"/>
            <a:ext cx="54864" cy="804672"/>
          </a:xfrm>
          <a:prstGeom prst="rect">
            <a:avLst/>
          </a:prstGeom>
          <a:solidFill>
            <a:srgbClr val="FF6B6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269748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2578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AWG Hookup Wire Kit (6 colors)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25786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~$10</a:t>
            </a:r>
            <a:endParaRPr lang="en-US" sz="1700" dirty="0"/>
          </a:p>
        </p:txBody>
      </p:sp>
      <p:sp>
        <p:nvSpPr>
          <p:cNvPr id="24" name="Text 18">
            <a:hlinkClick r:id="rId7" tooltip=""/>
          </p:cNvPr>
          <p:cNvSpPr/>
          <p:nvPr/>
        </p:nvSpPr>
        <p:spPr>
          <a:xfrm>
            <a:off x="1188720" y="28437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amazon.com/dp/B07TX6BX47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88720" y="30540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TUOFENG solid core, PVC insulated, 30ft per color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65760" y="3374136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65760" y="3374136"/>
            <a:ext cx="54864" cy="804672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3547872"/>
            <a:ext cx="384048" cy="38404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188720" y="34290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Dupont Jumper Wires (120-pack)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13232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~$7</a:t>
            </a:r>
            <a:endParaRPr lang="en-US" sz="1700" dirty="0"/>
          </a:p>
        </p:txBody>
      </p:sp>
      <p:sp>
        <p:nvSpPr>
          <p:cNvPr id="31" name="Text 24">
            <a:hlinkClick r:id="rId9" tooltip=""/>
          </p:cNvPr>
          <p:cNvSpPr/>
          <p:nvPr/>
        </p:nvSpPr>
        <p:spPr>
          <a:xfrm>
            <a:off x="1188720" y="369417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amazon.com/dp/B01EV70C78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188720" y="390448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ELEGOO M-M, M-F, F-F assortment for prototyping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224528"/>
            <a:ext cx="8412480" cy="804672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365760" y="4224528"/>
            <a:ext cx="54864" cy="804672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360" y="4398264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188720" y="4279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Perfboard + SD Card + Extras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713232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~$24</a:t>
            </a:r>
            <a:endParaRPr lang="en-US" sz="1700" dirty="0"/>
          </a:p>
        </p:txBody>
      </p:sp>
      <p:sp>
        <p:nvSpPr>
          <p:cNvPr id="38" name="Text 30">
            <a:hlinkClick r:id="rId11" tooltip=""/>
          </p:cNvPr>
          <p:cNvSpPr/>
          <p:nvPr/>
        </p:nvSpPr>
        <p:spPr>
          <a:xfrm>
            <a:off x="1188720" y="45445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amazon.com/dp/B07W83VJGV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88720" y="475488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Perfboard kit ~$8 + SanDisk 32GB ~$8 + misc ~$8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WIRING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4.1 PIN MAP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3931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</a:rPr>
                        <a:t>Function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</a:rPr>
                        <a:t>Pins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Audio Shield (I2S+I2C+SD)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7,8,10-13,18-21,23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CrowPanel UART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0(RX), 1(TX)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INMP441 / Audio Bridge (I2S2)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D3, D4, D5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MIDI I/O (Serial3)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14(TX), 15(RX)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Audio Bridge Ctrl (Serial8)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34(RX), 35(TX)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Potentiometers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A2, A3, A4, A5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Buttons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D2, D6, D9, D22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4F8"/>
                          </a:solidFill>
                        </a:rPr>
                        <a:t>USB Host (5-pin header)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899AA"/>
                          </a:solidFill>
                        </a:rPr>
                        <a:t>Bottom pads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777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WIRING RULES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115568"/>
            <a:ext cx="201168" cy="2011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0" y="1097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Shield plugs onto Teensy (no soldering)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54533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74920" y="152704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ubld.it MIDI board: just 4 wires (TX, RX, 3.3V, GND)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975104"/>
            <a:ext cx="201168" cy="20116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74920" y="195681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Pots: Pin1→GND, Pin2→Analog, Pin3→3.3V</a:t>
            </a:r>
            <a:endParaRPr lang="en-US" sz="1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404872"/>
            <a:ext cx="201168" cy="20116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074920" y="238658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Buttons: Pin→Digital, other→GND (INPUT_PULLUP)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834640"/>
            <a:ext cx="201168" cy="20116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074920" y="281635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↔ Teensy: 3 wires (TX, RX, GND)</a:t>
            </a:r>
            <a:endParaRPr lang="en-US" sz="10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3264408"/>
            <a:ext cx="201168" cy="20116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5074920" y="32461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boards are 3.3V logic — no level shifters</a:t>
            </a:r>
            <a:endParaRPr lang="en-US" sz="10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694176"/>
            <a:ext cx="201168" cy="201168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5074920" y="367588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Host: solder 5-pin header, attach host cable</a:t>
            </a:r>
            <a:endParaRPr lang="en-US" sz="10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4123944"/>
            <a:ext cx="201168" cy="201168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5074920" y="410565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hub plugs into host cable → Launchpad into hub</a:t>
            </a:r>
            <a:endParaRPr lang="en-US" sz="1000" dirty="0"/>
          </a:p>
        </p:txBody>
      </p:sp>
      <p:sp>
        <p:nvSpPr>
          <p:cNvPr id="23" name="Shap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13"/>
          <p:cNvSpPr/>
          <p:nvPr/>
        </p:nvSpPr>
        <p:spPr>
          <a:xfrm>
            <a:off x="457200" y="4686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free pins remain for future expansion (LEDs, extra buttons, etc.)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HARDWARE BUILD PHASES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test each subsystem incrementally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1005840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75488" y="1106424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8" name="Text 5"/>
          <p:cNvSpPr/>
          <p:nvPr/>
        </p:nvSpPr>
        <p:spPr>
          <a:xfrm>
            <a:off x="475488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51560" y="1060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 Core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51560" y="1353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Audio Shield. Play tone. Headphones.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64608" y="1106424"/>
            <a:ext cx="457200" cy="457200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440680" y="1060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40680" y="1353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4 pots + 4 buttons. Serial monitor.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1755648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5488" y="1856232"/>
            <a:ext cx="457200" cy="45720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051560" y="1810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 Input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05156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 jacks to Audio Shield. Pass-through.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754880" y="1755648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864608" y="1856232"/>
            <a:ext cx="457200" cy="457200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23" name="Text 20"/>
          <p:cNvSpPr/>
          <p:nvPr/>
        </p:nvSpPr>
        <p:spPr>
          <a:xfrm>
            <a:off x="4864608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440680" y="1810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INMP441 Mic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44068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mic to I2S2. Test recording.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2505456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5488" y="2606040"/>
            <a:ext cx="457200" cy="457200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05156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 I/O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051560" y="2852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ubld.it breakout. Send/receive.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54880" y="2505456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864608" y="2606040"/>
            <a:ext cx="457200" cy="45720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33" name="Text 30"/>
          <p:cNvSpPr/>
          <p:nvPr/>
        </p:nvSpPr>
        <p:spPr>
          <a:xfrm>
            <a:off x="4864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544068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Host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440680" y="2852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Solder host header. Hub + Launchpad.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65760" y="3255264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75488" y="3355848"/>
            <a:ext cx="457200" cy="457200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1051560" y="3310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CrowPanel UI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051560" y="36027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UART. Build touch UI.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754880" y="3255264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4864608" y="3355848"/>
            <a:ext cx="457200" cy="45720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3" name="Text 40"/>
          <p:cNvSpPr/>
          <p:nvPr/>
        </p:nvSpPr>
        <p:spPr>
          <a:xfrm>
            <a:off x="4864608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44" name="Text 41"/>
          <p:cNvSpPr/>
          <p:nvPr/>
        </p:nvSpPr>
        <p:spPr>
          <a:xfrm>
            <a:off x="5440680" y="3310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440680" y="36027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subsystems on breadboard.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65760" y="4005072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475488" y="4105656"/>
            <a:ext cx="457200" cy="457200"/>
          </a:xfrm>
          <a:prstGeom prst="ellipse">
            <a:avLst/>
          </a:prstGeom>
          <a:solidFill>
            <a:srgbClr val="B388FF"/>
          </a:solidFill>
          <a:ln/>
        </p:spPr>
      </p:sp>
      <p:sp>
        <p:nvSpPr>
          <p:cNvPr id="48" name="Text 45"/>
          <p:cNvSpPr/>
          <p:nvPr/>
        </p:nvSpPr>
        <p:spPr>
          <a:xfrm>
            <a:off x="475488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1800" dirty="0"/>
          </a:p>
        </p:txBody>
      </p:sp>
      <p:sp>
        <p:nvSpPr>
          <p:cNvPr id="49" name="Text 46"/>
          <p:cNvSpPr/>
          <p:nvPr/>
        </p:nvSpPr>
        <p:spPr>
          <a:xfrm>
            <a:off x="1051560" y="40599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 Bridge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1051560" y="4352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 USB Audio (experimental).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754880" y="4005072"/>
            <a:ext cx="4114800" cy="65836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864608" y="4105656"/>
            <a:ext cx="457200" cy="457200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53" name="Text 50"/>
          <p:cNvSpPr/>
          <p:nvPr/>
        </p:nvSpPr>
        <p:spPr>
          <a:xfrm>
            <a:off x="4864608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5440680" y="40599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Enclosure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5440680" y="4352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Perfboard, panel mount, final test.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SOFTWARE ARCHITECTURE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274320" y="822960"/>
            <a:ext cx="2743200" cy="3840480"/>
          </a:xfrm>
          <a:prstGeom prst="rect">
            <a:avLst/>
          </a:prstGeom>
          <a:solidFill>
            <a:srgbClr val="1A2332"/>
          </a:solidFill>
          <a:ln w="12700">
            <a:solidFill>
              <a:srgbClr val="FF6B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11480" y="8961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Teensy 4.1 (C++)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Engine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627632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Voices (4)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1975104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975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Sampler (SD WAV)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2322576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322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Chain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2670048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MIDI Host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3017520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MIDI (Serial3)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65760" y="3364992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364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(Pots/Btns)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712464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Comms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246120" y="822960"/>
            <a:ext cx="2743200" cy="3840480"/>
          </a:xfrm>
          <a:prstGeom prst="rect">
            <a:avLst/>
          </a:prstGeom>
          <a:solidFill>
            <a:srgbClr val="1A2332"/>
          </a:solidFill>
          <a:ln w="12700">
            <a:solidFill>
              <a:srgbClr val="00D4A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3383280" y="8961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CrowPanel (C++)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37560" y="1280160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6" name="Text 23"/>
          <p:cNvSpPr/>
          <p:nvPr/>
        </p:nvSpPr>
        <p:spPr>
          <a:xfrm>
            <a:off x="34290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Manager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337560" y="1627632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28" name="Text 25"/>
          <p:cNvSpPr/>
          <p:nvPr/>
        </p:nvSpPr>
        <p:spPr>
          <a:xfrm>
            <a:off x="34290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Screen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337560" y="1975104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0" name="Text 27"/>
          <p:cNvSpPr/>
          <p:nvPr/>
        </p:nvSpPr>
        <p:spPr>
          <a:xfrm>
            <a:off x="3429000" y="1975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Sampler Screen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337560" y="2322576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2" name="Text 29"/>
          <p:cNvSpPr/>
          <p:nvPr/>
        </p:nvSpPr>
        <p:spPr>
          <a:xfrm>
            <a:off x="3429000" y="2322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 Screen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337560" y="2670048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4" name="Text 31"/>
          <p:cNvSpPr/>
          <p:nvPr/>
        </p:nvSpPr>
        <p:spPr>
          <a:xfrm>
            <a:off x="3429000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 Monitor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3337560" y="3017520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6" name="Text 33"/>
          <p:cNvSpPr/>
          <p:nvPr/>
        </p:nvSpPr>
        <p:spPr>
          <a:xfrm>
            <a:off x="34290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Screen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337560" y="3364992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38" name="Text 35"/>
          <p:cNvSpPr/>
          <p:nvPr/>
        </p:nvSpPr>
        <p:spPr>
          <a:xfrm>
            <a:off x="3429000" y="3364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Piano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3337560" y="3712464"/>
            <a:ext cx="256032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40" name="Text 37"/>
          <p:cNvSpPr/>
          <p:nvPr/>
        </p:nvSpPr>
        <p:spPr>
          <a:xfrm>
            <a:off x="342900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Comms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217920" y="822960"/>
            <a:ext cx="2651760" cy="3840480"/>
          </a:xfrm>
          <a:prstGeom prst="rect">
            <a:avLst/>
          </a:prstGeom>
          <a:solidFill>
            <a:srgbClr val="1A2332"/>
          </a:solidFill>
          <a:ln w="12700">
            <a:solidFill>
              <a:srgbClr val="B388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6355080" y="896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8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Audio Bridge (C)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309360" y="1280160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44" name="Text 41"/>
          <p:cNvSpPr/>
          <p:nvPr/>
        </p:nvSpPr>
        <p:spPr>
          <a:xfrm>
            <a:off x="6400800" y="1280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Audio Host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309360" y="1627632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46" name="Text 43"/>
          <p:cNvSpPr/>
          <p:nvPr/>
        </p:nvSpPr>
        <p:spPr>
          <a:xfrm>
            <a:off x="640080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I2S Output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6309360" y="1975104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48" name="Text 45"/>
          <p:cNvSpPr/>
          <p:nvPr/>
        </p:nvSpPr>
        <p:spPr>
          <a:xfrm>
            <a:off x="6400800" y="1975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Status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309360" y="2322576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50" name="Text 47"/>
          <p:cNvSpPr/>
          <p:nvPr/>
        </p:nvSpPr>
        <p:spPr>
          <a:xfrm>
            <a:off x="6400800" y="2322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v5.x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309360" y="2670048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52" name="Text 49"/>
          <p:cNvSpPr/>
          <p:nvPr/>
        </p:nvSpPr>
        <p:spPr>
          <a:xfrm>
            <a:off x="6400800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(Experimental)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6309360" y="3017520"/>
            <a:ext cx="2468880" cy="274320"/>
          </a:xfrm>
          <a:prstGeom prst="rect">
            <a:avLst/>
          </a:prstGeom>
          <a:solidFill>
            <a:srgbClr val="1E2D3D"/>
          </a:solidFill>
          <a:ln/>
        </p:spPr>
      </p:sp>
      <p:sp>
        <p:nvSpPr>
          <p:cNvPr id="54" name="Text 51"/>
          <p:cNvSpPr/>
          <p:nvPr/>
        </p:nvSpPr>
        <p:spPr>
          <a:xfrm>
            <a:off x="6400800" y="3017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(Phase 9+)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56" name="Text 53"/>
          <p:cNvSpPr/>
          <p:nvPr/>
        </p:nvSpPr>
        <p:spPr>
          <a:xfrm>
            <a:off x="457200" y="4686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Teensy: Arduino + Audio Library  |  CrowPanel: Arduino + TFT_eSPI/LVGL  |  Bridge: ESP-IDF + usb_stream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CODE: 17-PHASE BUILD PLAN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Vibe-code one feature at a time. Test on hardware after each phase.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65760" y="914400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" name="Shape 4"/>
          <p:cNvSpPr/>
          <p:nvPr/>
        </p:nvSpPr>
        <p:spPr>
          <a:xfrm>
            <a:off x="365760" y="914400"/>
            <a:ext cx="438912" cy="38404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91440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" y="9144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Hello Tone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651760" y="9144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440Hz out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440" y="914400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2" name="Shape 9"/>
          <p:cNvSpPr/>
          <p:nvPr/>
        </p:nvSpPr>
        <p:spPr>
          <a:xfrm>
            <a:off x="4663440" y="914400"/>
            <a:ext cx="438912" cy="38404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3" name="Text 10"/>
          <p:cNvSpPr/>
          <p:nvPr/>
        </p:nvSpPr>
        <p:spPr>
          <a:xfrm>
            <a:off x="4663440" y="91440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193792" y="9144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Pot → Freq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949440" y="9144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Knob controls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1335024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4"/>
          <p:cNvSpPr/>
          <p:nvPr/>
        </p:nvSpPr>
        <p:spPr>
          <a:xfrm>
            <a:off x="365760" y="1335024"/>
            <a:ext cx="438912" cy="38404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1335024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96112" y="13350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Envelope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651760" y="13350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ADSR trigger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663440" y="1335024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2" name="Shape 19"/>
          <p:cNvSpPr/>
          <p:nvPr/>
        </p:nvSpPr>
        <p:spPr>
          <a:xfrm>
            <a:off x="4663440" y="1335024"/>
            <a:ext cx="438912" cy="38404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335024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193792" y="13350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Synth Voice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949440" y="13350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osc + filter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1755648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7" name="Shape 24"/>
          <p:cNvSpPr/>
          <p:nvPr/>
        </p:nvSpPr>
        <p:spPr>
          <a:xfrm>
            <a:off x="365760" y="1755648"/>
            <a:ext cx="438912" cy="3840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8" name="Text 25"/>
          <p:cNvSpPr/>
          <p:nvPr/>
        </p:nvSpPr>
        <p:spPr>
          <a:xfrm>
            <a:off x="365760" y="175564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9611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Serial Link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651760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↔ Teensy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663440" y="1755648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2" name="Shape 29"/>
          <p:cNvSpPr/>
          <p:nvPr/>
        </p:nvSpPr>
        <p:spPr>
          <a:xfrm>
            <a:off x="4663440" y="1755648"/>
            <a:ext cx="438912" cy="3840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3" name="Text 30"/>
          <p:cNvSpPr/>
          <p:nvPr/>
        </p:nvSpPr>
        <p:spPr>
          <a:xfrm>
            <a:off x="4663440" y="175564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19379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Touch UI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949440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keyboard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365760" y="2176272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7" name="Shape 34"/>
          <p:cNvSpPr/>
          <p:nvPr/>
        </p:nvSpPr>
        <p:spPr>
          <a:xfrm>
            <a:off x="365760" y="2176272"/>
            <a:ext cx="438912" cy="3840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8" name="Text 35"/>
          <p:cNvSpPr/>
          <p:nvPr/>
        </p:nvSpPr>
        <p:spPr>
          <a:xfrm>
            <a:off x="365760" y="217627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96112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MIDI I/O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2651760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MIDI TRS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663440" y="2176272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2" name="Shape 39"/>
          <p:cNvSpPr/>
          <p:nvPr/>
        </p:nvSpPr>
        <p:spPr>
          <a:xfrm>
            <a:off x="4663440" y="2176272"/>
            <a:ext cx="438912" cy="384048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43" name="Text 40"/>
          <p:cNvSpPr/>
          <p:nvPr/>
        </p:nvSpPr>
        <p:spPr>
          <a:xfrm>
            <a:off x="4663440" y="217627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5193792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MIDI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6949440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Launchpad host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65760" y="2596896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7" name="Shape 44"/>
          <p:cNvSpPr/>
          <p:nvPr/>
        </p:nvSpPr>
        <p:spPr>
          <a:xfrm>
            <a:off x="365760" y="2596896"/>
            <a:ext cx="438912" cy="3840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2596896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96112" y="25968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Line Input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2651760" y="25968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Pass-through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663440" y="2596896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52" name="Shape 49"/>
          <p:cNvSpPr/>
          <p:nvPr/>
        </p:nvSpPr>
        <p:spPr>
          <a:xfrm>
            <a:off x="4663440" y="2596896"/>
            <a:ext cx="438912" cy="3840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3" name="Text 50"/>
          <p:cNvSpPr/>
          <p:nvPr/>
        </p:nvSpPr>
        <p:spPr>
          <a:xfrm>
            <a:off x="4663440" y="2596896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5193792" y="25968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Record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6949440" y="25968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 to SD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65760" y="3017520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57" name="Shape 54"/>
          <p:cNvSpPr/>
          <p:nvPr/>
        </p:nvSpPr>
        <p:spPr>
          <a:xfrm>
            <a:off x="365760" y="3017520"/>
            <a:ext cx="438912" cy="3840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8" name="Text 55"/>
          <p:cNvSpPr/>
          <p:nvPr/>
        </p:nvSpPr>
        <p:spPr>
          <a:xfrm>
            <a:off x="365760" y="301752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896112" y="3017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Playback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2651760" y="3017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+ pitch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663440" y="3017520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62" name="Shape 59"/>
          <p:cNvSpPr/>
          <p:nvPr/>
        </p:nvSpPr>
        <p:spPr>
          <a:xfrm>
            <a:off x="4663440" y="3017520"/>
            <a:ext cx="438912" cy="3840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3" name="Text 60"/>
          <p:cNvSpPr/>
          <p:nvPr/>
        </p:nvSpPr>
        <p:spPr>
          <a:xfrm>
            <a:off x="4663440" y="301752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5193792" y="3017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 Input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6949440" y="3017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INMP441 I2S2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65760" y="3438144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67" name="Shape 64"/>
          <p:cNvSpPr/>
          <p:nvPr/>
        </p:nvSpPr>
        <p:spPr>
          <a:xfrm>
            <a:off x="365760" y="3438144"/>
            <a:ext cx="438912" cy="384048"/>
          </a:xfrm>
          <a:prstGeom prst="rect">
            <a:avLst/>
          </a:prstGeom>
          <a:solidFill>
            <a:srgbClr val="FFE66D"/>
          </a:solidFill>
          <a:ln/>
        </p:spPr>
      </p:sp>
      <p:sp>
        <p:nvSpPr>
          <p:cNvPr id="68" name="Text 65"/>
          <p:cNvSpPr/>
          <p:nvPr/>
        </p:nvSpPr>
        <p:spPr>
          <a:xfrm>
            <a:off x="365760" y="3438144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96112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Effects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2651760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Reverb + delay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4663440" y="3438144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2" name="Shape 69"/>
          <p:cNvSpPr/>
          <p:nvPr/>
        </p:nvSpPr>
        <p:spPr>
          <a:xfrm>
            <a:off x="4663440" y="3438144"/>
            <a:ext cx="438912" cy="384048"/>
          </a:xfrm>
          <a:prstGeom prst="rect">
            <a:avLst/>
          </a:prstGeom>
          <a:solidFill>
            <a:srgbClr val="FFE66D"/>
          </a:solidFill>
          <a:ln/>
        </p:spPr>
      </p:sp>
      <p:sp>
        <p:nvSpPr>
          <p:cNvPr id="73" name="Text 70"/>
          <p:cNvSpPr/>
          <p:nvPr/>
        </p:nvSpPr>
        <p:spPr>
          <a:xfrm>
            <a:off x="4663440" y="3438144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5193792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Polyphony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6949440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4-voice alloc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365760" y="3858768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77" name="Shape 74"/>
          <p:cNvSpPr/>
          <p:nvPr/>
        </p:nvSpPr>
        <p:spPr>
          <a:xfrm>
            <a:off x="365760" y="3858768"/>
            <a:ext cx="438912" cy="384048"/>
          </a:xfrm>
          <a:prstGeom prst="rect">
            <a:avLst/>
          </a:prstGeom>
          <a:solidFill>
            <a:srgbClr val="FFE66D"/>
          </a:solidFill>
          <a:ln/>
        </p:spPr>
      </p:sp>
      <p:sp>
        <p:nvSpPr>
          <p:cNvPr id="78" name="Text 75"/>
          <p:cNvSpPr/>
          <p:nvPr/>
        </p:nvSpPr>
        <p:spPr>
          <a:xfrm>
            <a:off x="365760" y="385876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</a:t>
            </a:r>
            <a:endParaRPr lang="en-US" sz="1200" dirty="0"/>
          </a:p>
        </p:txBody>
      </p:sp>
      <p:sp>
        <p:nvSpPr>
          <p:cNvPr id="79" name="Text 76"/>
          <p:cNvSpPr/>
          <p:nvPr/>
        </p:nvSpPr>
        <p:spPr>
          <a:xfrm>
            <a:off x="896112" y="38587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Presets</a:t>
            </a:r>
            <a:endParaRPr lang="en-US" sz="1100" dirty="0"/>
          </a:p>
        </p:txBody>
      </p:sp>
      <p:sp>
        <p:nvSpPr>
          <p:cNvPr id="80" name="Text 77"/>
          <p:cNvSpPr/>
          <p:nvPr/>
        </p:nvSpPr>
        <p:spPr>
          <a:xfrm>
            <a:off x="2651760" y="38587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Save/load SD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663440" y="3858768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82" name="Shape 79"/>
          <p:cNvSpPr/>
          <p:nvPr/>
        </p:nvSpPr>
        <p:spPr>
          <a:xfrm>
            <a:off x="4663440" y="3858768"/>
            <a:ext cx="438912" cy="384048"/>
          </a:xfrm>
          <a:prstGeom prst="rect">
            <a:avLst/>
          </a:prstGeom>
          <a:solidFill>
            <a:srgbClr val="B388FF"/>
          </a:solidFill>
          <a:ln/>
        </p:spPr>
      </p:sp>
      <p:sp>
        <p:nvSpPr>
          <p:cNvPr id="83" name="Text 80"/>
          <p:cNvSpPr/>
          <p:nvPr/>
        </p:nvSpPr>
        <p:spPr>
          <a:xfrm>
            <a:off x="4663440" y="385876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1200" dirty="0"/>
          </a:p>
        </p:txBody>
      </p:sp>
      <p:sp>
        <p:nvSpPr>
          <p:cNvPr id="84" name="Text 81"/>
          <p:cNvSpPr/>
          <p:nvPr/>
        </p:nvSpPr>
        <p:spPr>
          <a:xfrm>
            <a:off x="5193792" y="38587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Audio</a:t>
            </a:r>
            <a:endParaRPr lang="en-US" sz="1100" dirty="0"/>
          </a:p>
        </p:txBody>
      </p:sp>
      <p:sp>
        <p:nvSpPr>
          <p:cNvPr id="85" name="Text 82"/>
          <p:cNvSpPr/>
          <p:nvPr/>
        </p:nvSpPr>
        <p:spPr>
          <a:xfrm>
            <a:off x="6949440" y="38587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bridge</a:t>
            </a:r>
            <a:endParaRPr lang="en-US" sz="1000" dirty="0"/>
          </a:p>
        </p:txBody>
      </p:sp>
      <p:sp>
        <p:nvSpPr>
          <p:cNvPr id="86" name="Shape 83"/>
          <p:cNvSpPr/>
          <p:nvPr/>
        </p:nvSpPr>
        <p:spPr>
          <a:xfrm>
            <a:off x="365760" y="4279392"/>
            <a:ext cx="402336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87" name="Shape 84"/>
          <p:cNvSpPr/>
          <p:nvPr/>
        </p:nvSpPr>
        <p:spPr>
          <a:xfrm>
            <a:off x="365760" y="4279392"/>
            <a:ext cx="438912" cy="384048"/>
          </a:xfrm>
          <a:prstGeom prst="rect">
            <a:avLst/>
          </a:prstGeom>
          <a:solidFill>
            <a:srgbClr val="B388FF"/>
          </a:solidFill>
          <a:ln/>
        </p:spPr>
      </p:sp>
      <p:sp>
        <p:nvSpPr>
          <p:cNvPr id="88" name="Text 85"/>
          <p:cNvSpPr/>
          <p:nvPr/>
        </p:nvSpPr>
        <p:spPr>
          <a:xfrm>
            <a:off x="365760" y="4279392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200" dirty="0"/>
          </a:p>
        </p:txBody>
      </p:sp>
      <p:sp>
        <p:nvSpPr>
          <p:cNvPr id="89" name="Text 86"/>
          <p:cNvSpPr/>
          <p:nvPr/>
        </p:nvSpPr>
        <p:spPr>
          <a:xfrm>
            <a:off x="896112" y="4279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LVGL UI</a:t>
            </a:r>
            <a:endParaRPr lang="en-US" sz="1100" dirty="0"/>
          </a:p>
        </p:txBody>
      </p:sp>
      <p:sp>
        <p:nvSpPr>
          <p:cNvPr id="90" name="Text 87"/>
          <p:cNvSpPr/>
          <p:nvPr/>
        </p:nvSpPr>
        <p:spPr>
          <a:xfrm>
            <a:off x="2651760" y="4279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meters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0" y="4663440"/>
            <a:ext cx="9144000" cy="4572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2" name="Shape 89"/>
          <p:cNvSpPr/>
          <p:nvPr/>
        </p:nvSpPr>
        <p:spPr>
          <a:xfrm>
            <a:off x="365760" y="4782312"/>
            <a:ext cx="164592" cy="164592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3" name="Text 90"/>
          <p:cNvSpPr/>
          <p:nvPr/>
        </p:nvSpPr>
        <p:spPr>
          <a:xfrm>
            <a:off x="594360" y="4709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1-4 Audio</a:t>
            </a:r>
            <a:endParaRPr lang="en-US" sz="900" dirty="0"/>
          </a:p>
        </p:txBody>
      </p:sp>
      <p:sp>
        <p:nvSpPr>
          <p:cNvPr id="94" name="Shape 91"/>
          <p:cNvSpPr/>
          <p:nvPr/>
        </p:nvSpPr>
        <p:spPr>
          <a:xfrm>
            <a:off x="2103120" y="4782312"/>
            <a:ext cx="164592" cy="164592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95" name="Text 92"/>
          <p:cNvSpPr/>
          <p:nvPr/>
        </p:nvSpPr>
        <p:spPr>
          <a:xfrm>
            <a:off x="2331720" y="4709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5-8 MIDI/UI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3840480" y="4782312"/>
            <a:ext cx="164592" cy="1645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7" name="Text 94"/>
          <p:cNvSpPr/>
          <p:nvPr/>
        </p:nvSpPr>
        <p:spPr>
          <a:xfrm>
            <a:off x="4069080" y="4709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9-12 I/O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5577840" y="4782312"/>
            <a:ext cx="164592" cy="164592"/>
          </a:xfrm>
          <a:prstGeom prst="rect">
            <a:avLst/>
          </a:prstGeom>
          <a:solidFill>
            <a:srgbClr val="FFE66D"/>
          </a:solidFill>
          <a:ln/>
        </p:spPr>
      </p:sp>
      <p:sp>
        <p:nvSpPr>
          <p:cNvPr id="99" name="Text 96"/>
          <p:cNvSpPr/>
          <p:nvPr/>
        </p:nvSpPr>
        <p:spPr>
          <a:xfrm>
            <a:off x="5806440" y="4709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13-15 Polish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7315200" y="4782312"/>
            <a:ext cx="164592" cy="164592"/>
          </a:xfrm>
          <a:prstGeom prst="rect">
            <a:avLst/>
          </a:prstGeom>
          <a:solidFill>
            <a:srgbClr val="B388FF"/>
          </a:solidFill>
          <a:ln/>
        </p:spPr>
      </p:sp>
      <p:sp>
        <p:nvSpPr>
          <p:cNvPr id="101" name="Text 98"/>
          <p:cNvSpPr/>
          <p:nvPr/>
        </p:nvSpPr>
        <p:spPr>
          <a:xfrm>
            <a:off x="7543800" y="4709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16-17 Advanced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0120" y="182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0F4F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365760" y="914400"/>
            <a:ext cx="841248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24128"/>
            <a:ext cx="548640" cy="54864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024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25880" y="969264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Order Parts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25880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Amazon links in slides 5-7. USB Host Cable from SparkFun. Most ship Prime 1-2 days.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65760" y="1828800"/>
            <a:ext cx="841248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938528"/>
            <a:ext cx="548640" cy="548640"/>
          </a:xfrm>
          <a:prstGeom prst="ellipse">
            <a:avLst/>
          </a:prstGeom>
          <a:solidFill>
            <a:srgbClr val="4ECDC4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325880" y="1883664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CD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Dev Tools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25880" y="22311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 IDE 2.x + Teensyduino + ESP32-S3 board package. ESP-IDF for Phase 16 only.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5760" y="2743200"/>
            <a:ext cx="841248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2852928"/>
            <a:ext cx="548640" cy="54864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25880" y="2798064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 with Claude Code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25880" y="31455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"Write a Teensy 4.1 sketch that plays a 440Hz sawtooth through the Audio Shield."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5760" y="3657600"/>
            <a:ext cx="8412480" cy="7772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48640" y="3767328"/>
            <a:ext cx="548640" cy="548640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F141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325880" y="3712464"/>
            <a:ext cx="6858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Incrementally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25880" y="40599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Claude Code session = one feature. Test on hardware. Commit. 17 phases to full product.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6" name="Text 23"/>
          <p:cNvSpPr/>
          <p:nvPr/>
        </p:nvSpPr>
        <p:spPr>
          <a:xfrm>
            <a:off x="457200" y="4686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docs:  HARDWARE_DESIGN.md  |  SOFTWARE_DESIGN.md  |  Both in your Sampler-Crow folder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Sampler-Crow: Build Guide v2</dc:title>
  <dc:subject>PptxGenJS Presentation</dc:subject>
  <dc:creator>Lev / Sampler-Crow</dc:creator>
  <cp:lastModifiedBy>Lev / Sampler-Crow</cp:lastModifiedBy>
  <cp:revision>1</cp:revision>
  <dcterms:created xsi:type="dcterms:W3CDTF">2026-04-05T15:14:24Z</dcterms:created>
  <dcterms:modified xsi:type="dcterms:W3CDTF">2026-04-05T15:14:24Z</dcterms:modified>
</cp:coreProperties>
</file>