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jrc.com/store/teensy41_pins.html" TargetMode="External"/><Relationship Id="rId3" Type="http://schemas.openxmlformats.org/officeDocument/2006/relationships/hyperlink" Target="https://www.pjrc.com/store/teensy3_audio.html" TargetMode="External"/><Relationship Id="rId4" Type="http://schemas.openxmlformats.org/officeDocument/2006/relationships/hyperlink" Target="https://www.elecrow.com/esp32-display-5-inch-hmi-display-rgb-tft-lcd-touch-screen-support-lvgl.html" TargetMode="External"/><Relationship Id="rId5" Type="http://schemas.openxmlformats.org/officeDocument/2006/relationships/hyperlink" Target="https://www.amazon.com/dp/B086ZKJFNC" TargetMode="External"/><Relationship Id="rId6" Type="http://schemas.openxmlformats.org/officeDocument/2006/relationships/hyperlink" Target="https://www.amazon.com/dp/B0BYMC926Z" TargetMode="External"/><Relationship Id="rId7" Type="http://schemas.openxmlformats.org/officeDocument/2006/relationships/hyperlink" Target="https://www.amazon.com/dp/B07JNC4P7Y" TargetMode="External"/><Relationship Id="rId8" Type="http://schemas.openxmlformats.org/officeDocument/2006/relationships/hyperlink" Target="https://www.amazon.com/dp/B08GY9NYR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parkfun.com/usb-host-cable-for-teensy-4-1-and-teensy-3-6.html" TargetMode="External"/><Relationship Id="rId3" Type="http://schemas.openxmlformats.org/officeDocument/2006/relationships/hyperlink" Target="https://www.amazon.com/dp/B00DQFGH80" TargetMode="External"/><Relationship Id="rId4" Type="http://schemas.openxmlformats.org/officeDocument/2006/relationships/hyperlink" Target="https://www.amazon.com/dp/B08HS6X44P" TargetMode="External"/><Relationship Id="rId5" Type="http://schemas.openxmlformats.org/officeDocument/2006/relationships/hyperlink" Target="https://www.amazon.com/dp/B06WWQP12J" TargetMode="External"/><Relationship Id="rId6" Type="http://schemas.openxmlformats.org/officeDocument/2006/relationships/hyperlink" Target="https://www.amazon.com/dp/B0798HZ8WB" TargetMode="External"/><Relationship Id="rId7" Type="http://schemas.openxmlformats.org/officeDocument/2006/relationships/hyperlink" Target="https://www.amazon.com/dp/B07W83VJGV" TargetMode="External"/><Relationship Id="rId8" Type="http://schemas.openxmlformats.org/officeDocument/2006/relationships/hyperlink" Target="https://www.digikey.com/en/products/detail/mean-well-usa-inc/GSM18A05-P1J/7703632" TargetMode="External"/><Relationship Id="rId9" Type="http://schemas.openxmlformats.org/officeDocument/2006/relationships/hyperlink" Target="https://www.digikey.com/en/products/detail/mean-well-usa-inc/IRM-20-5/7704667" TargetMode="External"/><Relationship Id="rId10" Type="http://schemas.openxmlformats.org/officeDocument/2006/relationships/hyperlink" Target="https://www.adafruit.com/product/5807" TargetMode="External"/><Relationship Id="rId11" Type="http://schemas.openxmlformats.org/officeDocument/2006/relationships/hyperlink" Target="https://www.pololu.com/product/378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ohumans-com/Sampler-Crow" TargetMode="External"/><Relationship Id="rId3" Type="http://schemas.openxmlformats.org/officeDocument/2006/relationships/hyperlink" Target="https://www.pjrc.com/store/teensy41.html" TargetMode="External"/><Relationship Id="rId4" Type="http://schemas.openxmlformats.org/officeDocument/2006/relationships/hyperlink" Target="https://www.pjrc.com/teensy/td_libs_Audio.html" TargetMode="External"/><Relationship Id="rId5" Type="http://schemas.openxmlformats.org/officeDocument/2006/relationships/hyperlink" Target="https://github.com/PaulStoffregen/USBHost_t36" TargetMode="External"/><Relationship Id="rId6" Type="http://schemas.openxmlformats.org/officeDocument/2006/relationships/hyperlink" Target="https://www.sparkfun.com/usb-host-cable-for-teensy-4-1-and-teensy-3-6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00D4FF"/>
                </a:solidFill>
                <a:latin typeface="SF Pro Display"/>
              </a:rPr>
              <a:t>Sampler-Crow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E0E0E0"/>
                </a:solidFill>
                <a:latin typeface="SF Pro Display"/>
              </a:rPr>
              <a:t>Portable Music Workstation — Build Guide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SF Pro Display"/>
              </a:rPr>
              <a:t>Teensy 4.1  +  Audio Shield  +  CrowPanel 5"  +  Novation Launchpad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647" y="4114800"/>
            <a:ext cx="2377440" cy="118872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647" y="4389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44FF44"/>
                </a:solidFill>
                <a:latin typeface="SF Pro Display"/>
              </a:rPr>
              <a:t>8-TRACK</a:t>
            </a:r>
          </a:p>
          <a:p>
            <a:pPr algn="ctr"/>
            <a:r>
              <a:rPr sz="1600" b="1">
                <a:solidFill>
                  <a:srgbClr val="44FF44"/>
                </a:solidFill>
                <a:latin typeface="SF Pro Display"/>
              </a:rPr>
              <a:t>SEQUENCER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6967" y="4114800"/>
            <a:ext cx="2377440" cy="118872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6967" y="4389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8844"/>
                </a:solidFill>
                <a:latin typeface="SF Pro Display"/>
              </a:rPr>
              <a:t>USB MIDI</a:t>
            </a:r>
          </a:p>
          <a:p>
            <a:pPr algn="ctr"/>
            <a:r>
              <a:rPr sz="1600" b="1">
                <a:solidFill>
                  <a:srgbClr val="FF8844"/>
                </a:solidFill>
                <a:latin typeface="SF Pro Display"/>
              </a:rPr>
              <a:t>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4114800"/>
            <a:ext cx="2377440" cy="118872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4389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D4FF"/>
                </a:solidFill>
                <a:latin typeface="SF Pro Display"/>
              </a:rPr>
              <a:t>TRS LINE</a:t>
            </a:r>
          </a:p>
          <a:p>
            <a:pPr algn="ctr"/>
            <a:r>
              <a:rPr sz="1600" b="1">
                <a:solidFill>
                  <a:srgbClr val="00D4FF"/>
                </a:solidFill>
                <a:latin typeface="SF Pro Display"/>
              </a:rPr>
              <a:t>IN/OUT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47607" y="4114800"/>
            <a:ext cx="2377440" cy="118872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47607" y="4389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44"/>
                </a:solidFill>
                <a:latin typeface="SF Pro Display"/>
              </a:rPr>
              <a:t>SAMPLE</a:t>
            </a:r>
          </a:p>
          <a:p>
            <a:pPr algn="ctr"/>
            <a:r>
              <a:rPr sz="1600" b="1">
                <a:solidFill>
                  <a:srgbClr val="FFFF44"/>
                </a:solidFill>
                <a:latin typeface="SF Pro Display"/>
              </a:rPr>
              <a:t>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SF Mono"/>
              </a:rPr>
              <a:t>Updated: 2026-04-11  •  github.com/nohumans-com/Sampler-Crow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What you will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A standalone drum machine + sampler + synth that runs without a computer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1907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SF Pro Display"/>
              </a:rPr>
              <a:t>8 independent tracks (kick / snare / hats / clap / bass / lead / pluck / fx)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219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SF Pro Display"/>
              </a:rPr>
              <a:t>Step sequencer with 8 steps per track, BPM clock, pattern save/load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2491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SF Pro Display"/>
              </a:rPr>
              <a:t>Real Novation Launchpad Mini MK3 as the step editor and clip launcher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2783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SF Pro Display"/>
              </a:rPr>
              <a:t>CrowPanel 5" touchscreen as the visual UI (mixer, piano roll, samples)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3075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SF Pro Display"/>
              </a:rPr>
              <a:t>Analog stereo TRS line in, line out, and headphone out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SF Pro Display"/>
              </a:rPr>
              <a:t>5-pin TRS MIDI in and MIDI out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365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SF Pro Display"/>
              </a:rPr>
              <a:t>Companion macOS host app for development, monitoring, sample loading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Two processors + Audio Shield + powered USB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3931920" cy="8229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691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SF Pro Display"/>
              </a:rPr>
              <a:t>CrowPanel 5.0" HMI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Mono"/>
              </a:rPr>
              <a:t>ESP32-S3-WROOM-1  |  800×480 touch  |  LVGL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017520"/>
            <a:ext cx="4846320" cy="21945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108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0D4FF"/>
                </a:solidFill>
                <a:latin typeface="SF Pro Display"/>
              </a:rPr>
              <a:t>Teensy 4.1  +  Audio 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29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Mono"/>
              </a:rPr>
              <a:t>ARM Cortex-M7 @ 600 MHz  •  SGTL5000 codec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749039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0E0E0"/>
                </a:solidFill>
                <a:latin typeface="SF Mono"/>
              </a:rPr>
              <a:t>Audio engine  •  Sequencer  •  Sample playback</a:t>
            </a:r>
          </a:p>
          <a:p>
            <a:pPr algn="ctr"/>
            <a:r>
              <a:rPr sz="1100" b="0">
                <a:solidFill>
                  <a:srgbClr val="E0E0E0"/>
                </a:solidFill>
                <a:latin typeface="SF Mono"/>
              </a:rPr>
              <a:t>USB Host (MIDI)  •  USB Device (Audio+MIDI+Serial)</a:t>
            </a:r>
          </a:p>
          <a:p>
            <a:pPr algn="ctr"/>
            <a:r>
              <a:rPr sz="1100" b="0">
                <a:solidFill>
                  <a:srgbClr val="E0E0E0"/>
                </a:solidFill>
                <a:latin typeface="SF Mono"/>
              </a:rPr>
              <a:t>MIDI TRS UART  •  SD card  •  4 pots, 4 buttons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1645920" cy="8229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8844"/>
                </a:solidFill>
                <a:latin typeface="SF Pro Display"/>
              </a:rPr>
              <a:t>LAUNCHPAD</a:t>
            </a:r>
          </a:p>
          <a:p>
            <a:pPr algn="ctr"/>
            <a:r>
              <a:rPr sz="1000" b="1">
                <a:solidFill>
                  <a:srgbClr val="FF8844"/>
                </a:solidFill>
                <a:latin typeface="SF Pro Display"/>
              </a:rPr>
              <a:t>Mini MK3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645920" cy="8229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88888"/>
                </a:solidFill>
                <a:latin typeface="SF Pro Display"/>
              </a:rPr>
              <a:t>USB HUB</a:t>
            </a:r>
          </a:p>
          <a:p>
            <a:pPr algn="ctr"/>
            <a:r>
              <a:rPr sz="1000" b="1">
                <a:solidFill>
                  <a:srgbClr val="888888"/>
                </a:solidFill>
                <a:latin typeface="SF Pro Display"/>
              </a:rPr>
              <a:t>(powered)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657600"/>
            <a:ext cx="1645920" cy="8229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FF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37490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44"/>
                </a:solidFill>
                <a:latin typeface="SF Pro Display"/>
              </a:rPr>
              <a:t>MIDI TRS</a:t>
            </a:r>
          </a:p>
          <a:p>
            <a:pPr algn="ctr"/>
            <a:r>
              <a:rPr sz="1000" b="1">
                <a:solidFill>
                  <a:srgbClr val="FFFF44"/>
                </a:solidFill>
                <a:latin typeface="SF Pro Display"/>
              </a:rPr>
              <a:t>in/out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754880"/>
            <a:ext cx="1645920" cy="8229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846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4FF44"/>
                </a:solidFill>
                <a:latin typeface="SF Pro Display"/>
              </a:rPr>
              <a:t>LINE TRS</a:t>
            </a:r>
          </a:p>
          <a:p>
            <a:pPr algn="ctr"/>
            <a:r>
              <a:rPr sz="1000" b="1">
                <a:solidFill>
                  <a:srgbClr val="44FF44"/>
                </a:solidFill>
                <a:latin typeface="SF Pro Display"/>
              </a:rPr>
              <a:t>in/out/hp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486400"/>
            <a:ext cx="1645920" cy="8229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5577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  <a:latin typeface="SF Pro Display"/>
              </a:rPr>
              <a:t>µSD</a:t>
            </a:r>
          </a:p>
          <a:p>
            <a:pPr algn="ctr"/>
            <a:r>
              <a:rPr sz="1000" b="1">
                <a:solidFill>
                  <a:srgbClr val="00D4FF"/>
                </a:solidFill>
                <a:latin typeface="SF Pro Display"/>
              </a:rPr>
              <a:t>samples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5486400"/>
            <a:ext cx="1645920" cy="82296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5577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4444"/>
                </a:solidFill>
                <a:latin typeface="SF Pro Display"/>
              </a:rPr>
              <a:t>macOS</a:t>
            </a:r>
          </a:p>
          <a:p>
            <a:pPr algn="ctr"/>
            <a:r>
              <a:rPr sz="1000" b="1">
                <a:solidFill>
                  <a:srgbClr val="FF4444"/>
                </a:solidFill>
                <a:latin typeface="SF Pro Display"/>
              </a:rPr>
              <a:t>host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Bill of Materials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Core components + audio/MIDI I/O  •  all-in total ~$245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459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Link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1247120" cy="1828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Teensy 4.1 (with pins)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PJRC Teensy 4.1 ARM Cortex-M7 600 MHz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0312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2"/>
              </a:rPr>
              <a:t>View product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Audio Shield Rev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06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Teensy Audio Shield (SGTL5000)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06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60604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3"/>
              </a:rPr>
              <a:t>View product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CrowPanel 5.0" HMI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08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Elecrow ESP32-S3 800x480 cap touch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4"/>
              </a:rPr>
              <a:t>View product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Novation Launchpad Mini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Novation LAUNCHPADMINIMK3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11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1188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5"/>
              </a:rPr>
              <a:t>View product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ubld.it MIDI Breakout 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114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Opto-isolated MIDI I/O, 3.3/5 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11480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6"/>
              </a:rPr>
              <a:t>View product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3.5 mm TRS jacks (5-pack)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Panel mount stereo jacks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617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61772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7"/>
              </a:rPr>
              <a:t>View product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20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MicroSD 32 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120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SanDisk Ultra 32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120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12064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8"/>
              </a:rPr>
              <a:t>View product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Bill of Materials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USB host + power + controls  •  pick ONE power 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63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463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Link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1247120" cy="1828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SparkFun USB Host Cable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5-pin to USB-A female (Teensy 4.1)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92024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2"/>
              </a:rPr>
              <a:t>View product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Powered USB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31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Anker 4-Port USB 2.0 Hub with AC 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33172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3"/>
              </a:rPr>
              <a:t>View product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USB-C panel mount (2x)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43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USB-C male-to-female pigtails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4320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4"/>
              </a:rPr>
              <a:t>View product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54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B10K potentiometers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154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×4 with knobs (20-pack)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54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15468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5"/>
              </a:rPr>
              <a:t>View product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Tactile buttons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566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12 mm momentary ×4 (25-pack)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56616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6"/>
              </a:rPr>
              <a:t>View product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77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Perfboard + hookup wire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977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Proto PCB + 22 AWG solid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97764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7"/>
              </a:rPr>
              <a:t>View product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844"/>
                </a:solidFill>
                <a:latin typeface="SF Pro Display"/>
              </a:rPr>
              <a:t>POWER — pick ONE of these four options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92040"/>
            <a:ext cx="11247120" cy="18288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A: Wall wart 5V/3A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Mean Well GSM18A05-P1J + barrel jack + perfboard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074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07492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8"/>
              </a:rPr>
              <a:t>View product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440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B: Internal AC-DC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440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Mean Well IRM-20-5 (20W, 5V/4A, enclosed) + C8 inlet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44068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9"/>
              </a:rPr>
              <a:t>View product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806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C: USB-C PD 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806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Adafruit HUSB238 breakout (any PD charger)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806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80644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10"/>
              </a:rPr>
              <a:t>View product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72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D: Buck regulator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6172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Mono"/>
              </a:rPr>
              <a:t>Pololu D36V28F5 (5V/3.2A) + 9-12V brick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172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$25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17220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u="sng">
                <a:solidFill>
                  <a:srgbClr val="00D4FF"/>
                </a:solidFill>
                <a:latin typeface="SF Mono"/>
                <a:hlinkClick r:id="rId11"/>
              </a:rPr>
              <a:t>View product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Power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Current budget  •  distribution  •  critical wiring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F Pro Display"/>
              </a:rPr>
              <a:t>Current budget @ 5 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029200" cy="1828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SF Mono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SF Mono"/>
              </a:rPr>
              <a:t>Typical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88888"/>
                </a:solidFill>
                <a:latin typeface="SF Mono"/>
              </a:rPr>
              <a:t>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Teensy 4.1 + Audio 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44"/>
                </a:solidFill>
                <a:latin typeface="SF Mono"/>
              </a:rPr>
              <a:t>120 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8844"/>
                </a:solidFill>
                <a:latin typeface="SF Mono"/>
              </a:rPr>
              <a:t>180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CrowPanel 5" (backlight)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44"/>
                </a:solidFill>
                <a:latin typeface="SF Mono"/>
              </a:rPr>
              <a:t>250 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8844"/>
                </a:solidFill>
                <a:latin typeface="SF Mono"/>
              </a:rPr>
              <a:t>400 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Launchpad Mini MK3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63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44"/>
                </a:solidFill>
                <a:latin typeface="SF Mono"/>
              </a:rPr>
              <a:t>200 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8844"/>
                </a:solidFill>
                <a:latin typeface="SF Mono"/>
              </a:rPr>
              <a:t>500 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Powered USB hub +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83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44"/>
                </a:solidFill>
                <a:latin typeface="SF Mono"/>
              </a:rPr>
              <a:t>30 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383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8844"/>
                </a:solidFill>
                <a:latin typeface="SF Mono"/>
              </a:rPr>
              <a:t>550 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03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Pots, buttons, misc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703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44"/>
                </a:solidFill>
                <a:latin typeface="SF Mono"/>
              </a:rPr>
              <a:t>10 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03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8844"/>
                </a:solidFill>
                <a:latin typeface="SF Mono"/>
              </a:rPr>
              <a:t>10 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5029200" cy="1828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0E0E0"/>
                </a:solidFill>
                <a:latin typeface="SF Pro Display"/>
              </a:rP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4FF44"/>
                </a:solidFill>
                <a:latin typeface="SF Mono"/>
              </a:rPr>
              <a:t>~610 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14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4444"/>
                </a:solidFill>
                <a:latin typeface="SF Mono"/>
              </a:rPr>
              <a:t>~1.64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4FF44"/>
                </a:solidFill>
                <a:latin typeface="SF Mono"/>
              </a:rPr>
              <a:t>Recommend 5 V / 3 A supply (comfortable headroom)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1645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844"/>
                </a:solidFill>
                <a:latin typeface="SF Pro Display"/>
              </a:rPr>
              <a:t>Critical wiring 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920240"/>
            <a:ext cx="5760720" cy="18288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103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8844"/>
                </a:solidFill>
                <a:latin typeface="SF Mono"/>
              </a:rPr>
              <a:t>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10312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Cut the VUSB→VIN pad underneath the Teensy 4.1 before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    powering from VIN. Standard PJRC procedure, one scalpel cut.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926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8844"/>
                </a:solidFill>
                <a:latin typeface="SF Mono"/>
              </a:rP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92608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DO NOT back-feed the USB-C COMPUTER port from your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    5 V rail. It is a device port. Leave VBUS for enumeration only.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8844"/>
                </a:solidFill>
                <a:latin typeface="SF Mono"/>
              </a:rPr>
              <a:t>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74904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The USB hub must be POWERED from the system 5 V rail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    via its own polyfuse, NOT from the Teensy USB host 5V pad.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572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8844"/>
                </a:solidFill>
                <a:latin typeface="SF Mono"/>
              </a:rPr>
              <a:t>4.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5720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Add a 1N5819 Schottky diode on the barrel jack input for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    reverse-polarity protection. Cheap insurance.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394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8844"/>
                </a:solidFill>
                <a:latin typeface="SF Mono"/>
              </a:rPr>
              <a:t>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3949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Add a 1000 µF bulk cap near the distribution block to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    absorb the Launchpad LED inrush spike.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Panel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Front = display + controls  •  Rear = all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FRONT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164592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5029200" cy="10972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SF Pro Display"/>
              </a:rPr>
              <a:t>5" Touchscreen  800×480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377440"/>
            <a:ext cx="548640" cy="548640"/>
          </a:xfrm>
          <a:prstGeom prst="ellipse">
            <a:avLst/>
          </a:prstGeom>
          <a:solidFill>
            <a:srgbClr val="222244"/>
          </a:solidFill>
          <a:ln w="1905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971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Mono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2377440"/>
            <a:ext cx="548640" cy="548640"/>
          </a:xfrm>
          <a:prstGeom prst="ellipse">
            <a:avLst/>
          </a:prstGeom>
          <a:solidFill>
            <a:srgbClr val="222244"/>
          </a:solidFill>
          <a:ln w="1905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971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Mono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2377440"/>
            <a:ext cx="548640" cy="548640"/>
          </a:xfrm>
          <a:prstGeom prst="ellipse">
            <a:avLst/>
          </a:prstGeom>
          <a:solidFill>
            <a:srgbClr val="222244"/>
          </a:solidFill>
          <a:ln w="1905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971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Mono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0" y="2377440"/>
            <a:ext cx="548640" cy="548640"/>
          </a:xfrm>
          <a:prstGeom prst="ellipse">
            <a:avLst/>
          </a:prstGeom>
          <a:solidFill>
            <a:srgbClr val="222244"/>
          </a:solidFill>
          <a:ln w="1905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971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Mono"/>
              </a:rPr>
              <a:t>P4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468880"/>
            <a:ext cx="365760" cy="36576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8803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B1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468880"/>
            <a:ext cx="365760" cy="36576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8803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B2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19" y="2468880"/>
            <a:ext cx="365760" cy="36576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9" y="28803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B3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35640" y="2468880"/>
            <a:ext cx="365760" cy="36576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5640" y="28803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B4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233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F Pro Display"/>
              </a:rPr>
              <a:t>REAR PANEL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222244"/>
          </a:solidFill>
          <a:ln w="63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4444"/>
                </a:solidFill>
                <a:latin typeface="SF Mono"/>
              </a:rPr>
              <a:t>5V 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IN</a:t>
            </a:r>
          </a:p>
        </p:txBody>
      </p:sp>
      <p:sp>
        <p:nvSpPr>
          <p:cNvPr id="31" name="Oval 30"/>
          <p:cNvSpPr/>
          <p:nvPr/>
        </p:nvSpPr>
        <p:spPr>
          <a:xfrm>
            <a:off x="23317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D4FF"/>
                </a:solidFill>
                <a:latin typeface="SF Mono"/>
              </a:rPr>
              <a:t>USB-C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COMPUTER</a:t>
            </a:r>
          </a:p>
        </p:txBody>
      </p:sp>
      <p:sp>
        <p:nvSpPr>
          <p:cNvPr id="34" name="Oval 33"/>
          <p:cNvSpPr/>
          <p:nvPr/>
        </p:nvSpPr>
        <p:spPr>
          <a:xfrm>
            <a:off x="37033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8844"/>
                </a:solidFill>
                <a:latin typeface="SF Mono"/>
              </a:rPr>
              <a:t>USB-C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CTRLR</a:t>
            </a:r>
          </a:p>
        </p:txBody>
      </p:sp>
      <p:sp>
        <p:nvSpPr>
          <p:cNvPr id="37" name="Oval 36"/>
          <p:cNvSpPr/>
          <p:nvPr/>
        </p:nvSpPr>
        <p:spPr>
          <a:xfrm>
            <a:off x="50749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4FF44"/>
                </a:solidFill>
                <a:latin typeface="SF Mono"/>
              </a:rPr>
              <a:t>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IN</a:t>
            </a:r>
          </a:p>
        </p:txBody>
      </p:sp>
      <p:sp>
        <p:nvSpPr>
          <p:cNvPr id="40" name="Oval 39"/>
          <p:cNvSpPr/>
          <p:nvPr/>
        </p:nvSpPr>
        <p:spPr>
          <a:xfrm>
            <a:off x="64465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4FF44"/>
                </a:solidFill>
                <a:latin typeface="SF Mono"/>
              </a:rPr>
              <a:t>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OUT</a:t>
            </a:r>
          </a:p>
        </p:txBody>
      </p:sp>
      <p:sp>
        <p:nvSpPr>
          <p:cNvPr id="43" name="Oval 42"/>
          <p:cNvSpPr/>
          <p:nvPr/>
        </p:nvSpPr>
        <p:spPr>
          <a:xfrm>
            <a:off x="78181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4FF44"/>
                </a:solidFill>
                <a:latin typeface="SF Mono"/>
              </a:rPr>
              <a:t>HEAD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PHONE</a:t>
            </a:r>
          </a:p>
        </p:txBody>
      </p:sp>
      <p:sp>
        <p:nvSpPr>
          <p:cNvPr id="46" name="Oval 45"/>
          <p:cNvSpPr/>
          <p:nvPr/>
        </p:nvSpPr>
        <p:spPr>
          <a:xfrm>
            <a:off x="91897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FF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44"/>
                </a:solidFill>
                <a:latin typeface="SF Mono"/>
              </a:rPr>
              <a:t>MIDI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OUT</a:t>
            </a:r>
          </a:p>
        </p:txBody>
      </p:sp>
      <p:sp>
        <p:nvSpPr>
          <p:cNvPr id="49" name="Oval 48"/>
          <p:cNvSpPr/>
          <p:nvPr/>
        </p:nvSpPr>
        <p:spPr>
          <a:xfrm>
            <a:off x="10561320" y="4572000"/>
            <a:ext cx="640080" cy="640080"/>
          </a:xfrm>
          <a:prstGeom prst="ellipse">
            <a:avLst/>
          </a:prstGeom>
          <a:solidFill>
            <a:srgbClr val="222244"/>
          </a:solidFill>
          <a:ln w="25400">
            <a:solidFill>
              <a:srgbClr val="FF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5303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44"/>
                </a:solidFill>
                <a:latin typeface="SF Mono"/>
              </a:rPr>
              <a:t>MIDI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5577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SF Mono"/>
              </a:rPr>
              <a:t>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Pro Display"/>
              </a:rPr>
              <a:t>Note: USB-C COMPUTER is a DEVICE port (host your laptop sees). USB-C CTRLR is for the Launchpad via the internal powered 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Step 1: Audio Shield +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Stack the Audio Shield, wire 4 pots and 4 buttons, verify tone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SF Pro Display"/>
              </a:rPr>
              <a:t>1. Stack the Audio Shield onto the Teensy 4.1 (no soldering — just press).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SF Pro Display"/>
              </a:rPr>
              <a:t>2. Wire each pot: outer legs to GND and 3.3 V, wiper to analog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SF Pro Display"/>
              </a:rPr>
              <a:t>3. Wire each button: pin to GND (uses INPUT_PULLUP in software).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  <a:latin typeface="SF Pro Display"/>
              </a:rPr>
              <a:t>4. Upload firmware from firmware/ directory, hear 440 Hz test tone.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SF Pro Display"/>
              </a:rPr>
              <a:t>Pin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1247120" cy="18288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A2 (16)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69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Pot 1 wiper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0690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Cutoff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A3 (17)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343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Pot 2 wiper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3434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Resonance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A4 (24)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17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Pot 3 wiper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6177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Attack / Decay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A5 (25)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8920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Pot 4 wiper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92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Volume /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66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D2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1663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Button 1 → GND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66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Play / 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D6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4406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Button 2 → GND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440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15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D9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7150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Button 3 → GND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7150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Mode / Preset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SF Mono"/>
              </a:rPr>
              <a:t>Pin D22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989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Button 4 → GND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9893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Mono"/>
              </a:rPr>
              <a:t>Shift /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Step 2: USB host + MIDI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Solder the 5-pin USB host header, wire the MIDI breakout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SF Pro Display"/>
              </a:rPr>
              <a:t>USB host pads (bottom of Teensy 4.1)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• Solder 5-pin male header to the bottom pads labeled "USB HOST"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• Connect SparkFun USB Host Cable or direct-wire to powered USB hub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• IMPORTANT: use only the D+, D-, GND pads — leave the 5V pad disconnected</a:t>
            </a:r>
          </a:p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• Wire hub VBUS IN directly from system 5 V rail through a 1 A polyfuse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SF Pro Display"/>
              </a:rPr>
              <a:t>ubld.it MIDI breakout (TRS Type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• Set the board voltage switch to 3.3 V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• ubld.it TX ← Teensy Pin 14 (Serial3 TX)     — MIDI OUT data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• ubld.it RX → Teensy Pin 15 (Serial3 RX)     — MIDI IN data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• ubld.it VCC → Teensy 3.3 V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• ubld.it GND → Teensy GND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• Panel-mount the two 3.5 mm TRS jacks to the board's MIDI IN /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8844"/>
                </a:solidFill>
                <a:latin typeface="SF Pro Display"/>
              </a:rPr>
              <a:t>⚠ TRS Type A standard: Tip = current source, Ring = current sink, Sleeve = GND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Step 3: Power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Wire up the barrel jack → distribution board →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SF Pro Display"/>
              </a:rPr>
              <a:t>Build the tiny distribution board on a piece of perfboard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Cut the VUSB→VIN pad on the underside of the Teensy 4.1 with a sharp hobby knife.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Panel-mount the 2.1 × 5.5 mm barrel jack on the rear 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On perfboard: barrel jack (+) → 1N5819 Schottky diode → node 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From node X: 1000 µF / 16 V electrolytic cap (+ to X, – to GND).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From node X: 1.5 A polyfuse → 5 V MAIN rail screw terminal.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From node X: 1 A polyfuse → 5 V HUB rail screw terminal.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Wire 5 V MAIN to Teensy VIN (5 V pin) and CrowPanel 5 V 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Wire 5 V HUB to the powered USB hub's VBUS input.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9.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Wire barrel jack (−) and everything else GND to a common ground bus.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8844"/>
                </a:solidFill>
                <a:latin typeface="SF Mono"/>
              </a:rPr>
              <a:t>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Verify with multimeter: 5 V ± 0.1 V at Teensy VIN under 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4444"/>
                </a:solidFill>
                <a:latin typeface="SF Pro Display"/>
              </a:rPr>
              <a:t>⚠ Leave the USB-C COMPUTER port's VBUS disconnected. Do NOT back-feed.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Which power option should you choose?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Four real products, pick based on your budget and aesthetic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2287" y="1737360"/>
            <a:ext cx="2743200" cy="41148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44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5167" y="1920240"/>
            <a:ext cx="548640" cy="548640"/>
          </a:xfrm>
          <a:prstGeom prst="ellipse">
            <a:avLst/>
          </a:prstGeom>
          <a:solidFill>
            <a:srgbClr val="44F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167" y="2011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SF Pro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967" y="1965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4FF44"/>
                </a:solidFill>
                <a:latin typeface="SF Pro Display"/>
              </a:rPr>
              <a:t>Wall wart + barrel jack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606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Pro Display"/>
              </a:rPr>
              <a:t>Cheapest • simplest •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310896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Mean Well GSM18A05-P1J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5 V / 3 A external brick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+ barrel jack + small perfboard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44FF44"/>
                </a:solidFill>
                <a:latin typeface="SF Pro Display"/>
              </a:rPr>
              <a:t>$19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5166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Pro Display"/>
              </a:rPr>
              <a:t>Recommended for prototype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6927" y="1737360"/>
            <a:ext cx="2743200" cy="41148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89807" y="19202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9807" y="2011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SF Pro Display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5607" y="1965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SF Pro Display"/>
              </a:rPr>
              <a:t>Internal AC-DC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9807" y="2606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Pro Display"/>
              </a:rPr>
              <a:t>Professional • self-contained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9807" y="310896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Mean Well IRM-20-5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5 V / 4 A encapsulated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+ C8 mains inlet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9807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  <a:latin typeface="SF Pro Display"/>
              </a:rPr>
              <a:t>$21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9807" y="5166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Pro Display"/>
              </a:rPr>
              <a:t>Recommended for final 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1567" y="1737360"/>
            <a:ext cx="2743200" cy="41148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24447" y="1920240"/>
            <a:ext cx="548640" cy="548640"/>
          </a:xfrm>
          <a:prstGeom prst="ellipse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2011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SF Pro Display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247" y="1965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8844"/>
                </a:solidFill>
                <a:latin typeface="SF Pro Display"/>
              </a:rPr>
              <a:t>USB-C PD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2606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Pro Display"/>
              </a:rPr>
              <a:t>Modern • phone charger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310896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Adafruit HUSB238 breakout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negotiates 5 V / 3 A from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any USB-C PD charger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8844"/>
                </a:solidFill>
                <a:latin typeface="SF Pro Display"/>
              </a:rPr>
              <a:t>$14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5166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Pro Display"/>
              </a:rPr>
              <a:t>If you want a single USB cable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6207" y="1737360"/>
            <a:ext cx="2743200" cy="41148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F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59087" y="1920240"/>
            <a:ext cx="548640" cy="548640"/>
          </a:xfrm>
          <a:prstGeom prst="ellipse">
            <a:avLst/>
          </a:prstGeom>
          <a:solidFill>
            <a:srgbClr val="FFF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9087" y="2011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SF Pro Display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4887" y="1965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44"/>
                </a:solidFill>
                <a:latin typeface="SF Pro Display"/>
              </a:rPr>
              <a:t>Buck regulator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9087" y="2606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SF Pro Display"/>
              </a:rPr>
              <a:t>Maximum headroom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9087" y="310896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Pololu D36V28F5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5 V / 3.2 A switcher</a:t>
            </a:r>
          </a:p>
          <a:p>
            <a:pPr algn="l"/>
            <a:r>
              <a:rPr sz="1100" b="0">
                <a:solidFill>
                  <a:srgbClr val="E0E0E0"/>
                </a:solidFill>
                <a:latin typeface="SF Mono"/>
              </a:rPr>
              <a:t>+ 9-12 V wall brick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9087" y="457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44"/>
                </a:solidFill>
                <a:latin typeface="SF Pro Display"/>
              </a:rPr>
              <a:t>$25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087" y="5166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SF Pro Display"/>
              </a:rPr>
              <a:t>If you plan to add a power 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Step 4: Firmware &amp; host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Flash the Teensy, build the macOS app, start making beats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F Pro Display"/>
              </a:rPr>
              <a:t>Firmware (Teensy 4.1)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Pro Display"/>
              </a:rPr>
              <a:t>Requires PlatformIO with Python 3.13 (not 3.14)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5486400" cy="320040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53035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cd ~/Sampler-Crow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pio run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/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# Put Teensy in bootloader mode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# (press the button on the board)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/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teensy_loader_cli --mcu=TEENSY41 \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    -w -v .pio/build/teensy41/firmware.hex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/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# Or just: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pio run -t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F Pro Display"/>
              </a:rPr>
              <a:t>macOS host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SF Pro Display"/>
              </a:rPr>
              <a:t>SwiftUI • Swift 6 • macOS 15+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5303520" cy="320040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00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120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cd SamplerCrowApp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swift build -c release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/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# Deploy to /Applications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cp .build/release/SamplerCrowApp \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    "/Applications/Sampler Crow.app/\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      Contents/MacOS/Sampler Crow"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xattr -cr "/Applications/Sampler Crow.app"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codesign --force --sign - \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    "/Applications/Sampler Crow.app/\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      Contents/MacOS/Sampler Crow"</a:t>
            </a:r>
          </a:p>
          <a:p>
            <a:pPr algn="l"/>
            <a:r>
              <a:rPr sz="1100" b="0">
                <a:solidFill>
                  <a:srgbClr val="44FF44"/>
                </a:solidFill>
                <a:latin typeface="SF Mono"/>
              </a:rPr>
              <a:t>$ open "/Applications/Sampler Crow.app"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F Pro Display"/>
              </a:rPr>
              <a:t>Plug in a Novation Launchpad Mini MK3 → pick your audio interface in the Audio tab → press Play.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Why we are NOT hosting a USB audio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The honest technical answer — read this before asking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8844"/>
                </a:solidFill>
                <a:latin typeface="SF Pro Display"/>
              </a:rPr>
              <a:t>What you might think you want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"Plug a Universal Audio Volt 476 into the Sampler-Crow's USB host port, get 8 channels of high-end preamp inputs routed straight into the sampler engine."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444"/>
                </a:solidFill>
                <a:latin typeface="SF Pro Display"/>
              </a:rPr>
              <a:t>Why it does not work on the Teensy 4.1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36392"/>
            <a:ext cx="91440" cy="9144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USBHost_t36 library has ZERO USB Audio Class host driver. Checked the source.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56432"/>
            <a:ext cx="91440" cy="9144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AudioInputUSB / AudioOutputUSB in the Teensy Audio Library are DEVICE mode only.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76472"/>
            <a:ext cx="91440" cy="9144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USB Audio Class 2 uses isochronous transfers at 480 Mbps with clock feedback — far beyond USB MIDI bulk transfers.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096512"/>
            <a:ext cx="91440" cy="9144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Even if the driver existed, handling 8×44.1kHz streams while running the sampler engine is borderline CPU-wise.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16552"/>
            <a:ext cx="91440" cy="9144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F Pro Display"/>
              </a:rPr>
              <a:t>The ESP32-S3 bridge in v2 was even worse: full-speed 12 Mbps USB only, 2-channel max experimental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4FF44"/>
                </a:solidFill>
                <a:latin typeface="SF Pro Display"/>
              </a:rPr>
              <a:t>What the pros do instead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Dirtywave M8, Teenage Engineering OP-1, Polyend Tracker, Elektron Syntakt, Elektron Digitakt II — ALL of these professional portable instruments use an on-board codec, not USB audio hosting. When they need to integrate with a computer-based studio, they present themselves AS a USB audio device. That is the pattern Sampler-Crow follows: the Audio Shield SGTL5000 handles TRS I/O, and the Teensy's USB device port exposes us as an audio device to any Mac or PC alongside your Volt.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Where we are and where we are going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4FF44"/>
                </a:solidFill>
                <a:latin typeface="SF Pro Display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4FF44"/>
                </a:solidFill>
                <a:latin typeface="SF Pro Display"/>
              </a:rPr>
              <a:t>Phase 1-6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45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Foundation, sequencer, Launchpad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4FF44"/>
                </a:solidFill>
                <a:latin typeface="SF Pro Display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2996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4FF44"/>
                </a:solidFill>
                <a:latin typeface="SF Pro Display"/>
              </a:rPr>
              <a:t>Phase 7a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29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8-voice multi-timbral synth (kick/snare/hats/bass/lead)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1401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4FF44"/>
                </a:solidFill>
                <a:latin typeface="SF Pro Display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1401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4FF44"/>
                </a:solidFill>
                <a:latin typeface="SF Pro Display"/>
              </a:rPr>
              <a:t>Phase 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14016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Functional mixer: volume, mute, solo per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9806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SF Pro Display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9806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SF Pro Display"/>
              </a:rPr>
              <a:t>Phase 7c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798064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Velocity / pitch per step editing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821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8844"/>
                </a:solidFill>
                <a:latin typeface="SF Pro Display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821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8844"/>
                </a:solidFill>
                <a:latin typeface="SF Pro Display"/>
              </a:rPr>
              <a:t>Phase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182112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Drum sampler: WAV playback from SD card (DrumMode port)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SF Pro Display"/>
              </a:rPr>
              <a:t>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661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SF Pro Display"/>
              </a:rPr>
              <a:t>Phase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56616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Pattern save/load to SD as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5020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SF Pro Display"/>
              </a:rPr>
              <a:t>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5020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SF Pro Display"/>
              </a:rPr>
              <a:t>Phase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5020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Mutable Instruments Plaits synth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34256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SF Pro Display"/>
              </a:rPr>
              <a:t>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33425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SF Pro Display"/>
              </a:rPr>
              <a:t>Phase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334256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Chord progression sequencer + scale quantizer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18304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SF Pro Display"/>
              </a:rPr>
              <a:t>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1830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SF Pro Display"/>
              </a:rPr>
              <a:t>Phase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718304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Port 5 sampler modes from new_hits (Pitch/Grain/Chop/Drum/Multi)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0235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SF Pro Display"/>
              </a:rPr>
              <a:t>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023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SF Pro Display"/>
              </a:rPr>
              <a:t>Phase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102352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CrowPanel 5" LVGL touchscreen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4864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SF Pro Display"/>
              </a:rPr>
              <a:t>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864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SF Pro Display"/>
              </a:rPr>
              <a:t>Phase 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48640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Effects per track + AUX sends + master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70448"/>
            <a:ext cx="365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SF Pro Display"/>
              </a:rPr>
              <a:t>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8704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88888"/>
                </a:solidFill>
                <a:latin typeface="SF Pro Display"/>
              </a:rPr>
              <a:t>Phase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87044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Live looping on audio tracks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D4FF"/>
                </a:solidFill>
                <a:latin typeface="SF Pro Display"/>
              </a:rPr>
              <a:t>Links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SF Pro Display"/>
              </a:rPr>
              <a:t>Everything you need is on the 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F Pro Display"/>
              </a:rPr>
              <a:t>Project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u="sng">
                <a:solidFill>
                  <a:srgbClr val="00D4FF"/>
                </a:solidFill>
                <a:latin typeface="SF Mono"/>
                <a:hlinkClick r:id="rId2"/>
              </a:rPr>
              <a:t>https://github.com/nohumans-com/Sampler-Crow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F Pro Display"/>
              </a:rPr>
              <a:t>Key documents in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44"/>
                </a:solidFill>
                <a:latin typeface="SF Mono"/>
              </a:rPr>
              <a:t>HARDWARE_DESIGN.md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175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Full v3 hardware spec — definitive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44"/>
                </a:solidFill>
                <a:latin typeface="SF Mono"/>
              </a:rPr>
              <a:t>SOFTWARE_DESIGN.md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38328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Original software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44"/>
                </a:solidFill>
                <a:latin typeface="SF Mono"/>
              </a:rPr>
              <a:t>STATUS.md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4904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Current build state and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44"/>
                </a:solidFill>
                <a:latin typeface="SF Mono"/>
              </a:rPr>
              <a:t>firmware/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1148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Teensy 4.1 firmware (PlatformIO + Arduino)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44"/>
                </a:solidFill>
                <a:latin typeface="SF Mono"/>
              </a:rPr>
              <a:t>SamplerCrowApp/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805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SF Pro Display"/>
              </a:rPr>
              <a:t>macOS host app (SwiftUI + Swift 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F Pro Display"/>
              </a:rPr>
              <a:t>Teensy 4.1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PJRC Teensy 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57784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u="sng">
                <a:solidFill>
                  <a:srgbClr val="00D4FF"/>
                </a:solidFill>
                <a:latin typeface="SF Mono"/>
                <a:hlinkClick r:id="rId3"/>
              </a:rPr>
              <a:t>https://www.pjrc.com/store/teensy41.html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52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Audio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85216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u="sng">
                <a:solidFill>
                  <a:srgbClr val="00D4FF"/>
                </a:solidFill>
                <a:latin typeface="SF Mono"/>
                <a:hlinkClick r:id="rId4"/>
              </a:rPr>
              <a:t>https://www.pjrc.com/teensy/td_libs_Audio.html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USBHost_t36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612648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u="sng">
                <a:solidFill>
                  <a:srgbClr val="00D4FF"/>
                </a:solidFill>
                <a:latin typeface="SF Mono"/>
                <a:hlinkClick r:id="rId5"/>
              </a:rPr>
              <a:t>https://github.com/PaulStoffregen/USBHost_t36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E0E0"/>
                </a:solidFill>
                <a:latin typeface="SF Pro Display"/>
              </a:rPr>
              <a:t>USB host cable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6400800"/>
            <a:ext cx="7772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u="sng">
                <a:solidFill>
                  <a:srgbClr val="00D4FF"/>
                </a:solidFill>
                <a:latin typeface="SF Mono"/>
                <a:hlinkClick r:id="rId6"/>
              </a:rPr>
              <a:t>https://www.sparkfun.com/usb-host-cable-for-teensy-4-1-and-teensy-3-6.html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